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224"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251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050" b="1" kern="0" spc="200" dirty="0">
                <a:solidFill>
                  <a:srgbClr val="6B7280"/>
                </a:solidFill>
                <a:latin typeface="Calibri" pitchFamily="34" charset="0"/>
                <a:ea typeface="Calibri" pitchFamily="34" charset="-122"/>
                <a:cs typeface="Calibri" pitchFamily="34" charset="-120"/>
              </a:rPr>
              <a:t>DEAL &amp; PRICING GOVERNANCE REVIEWER</a:t>
            </a:r>
            <a:endParaRPr lang="en-US" sz="1050" dirty="0"/>
          </a:p>
        </p:txBody>
      </p:sp>
      <p:sp>
        <p:nvSpPr>
          <p:cNvPr id="3" name="Text 1"/>
          <p:cNvSpPr/>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300" b="1" dirty="0">
                <a:solidFill>
                  <a:srgbClr val="0F1419"/>
                </a:solidFill>
                <a:latin typeface="Cambria" pitchFamily="34" charset="0"/>
                <a:ea typeface="Cambria" pitchFamily="34" charset="-122"/>
                <a:cs typeface="Cambria" pitchFamily="34" charset="-120"/>
              </a:rPr>
              <a:t>Pricing, collections and capacity risk lived in three different inboxes — nobody had one view of which shippers needed action</a:t>
            </a:r>
            <a:endParaRPr lang="en-US" sz="2300" dirty="0"/>
          </a:p>
        </p:txBody>
      </p:sp>
      <p:sp>
        <p:nvSpPr>
          <p:cNvPr id="4" name="Text 2"/>
          <p:cNvSpPr/>
          <p:nvPr/>
        </p:nvSpPr>
        <p:spPr>
          <a:xfrm>
            <a:off x="548640" y="1572768"/>
            <a:ext cx="11091672" cy="365760"/>
          </a:xfrm>
          <a:prstGeom prst="rect">
            <a:avLst/>
          </a:prstGeom>
          <a:noFill/>
          <a:ln/>
        </p:spPr>
        <p:txBody>
          <a:bodyPr wrap="square" lIns="0" tIns="0" rIns="0" bIns="0" rtlCol="0" anchor="ctr"/>
          <a:lstStyle/>
          <a:p>
            <a:pPr marL="0" indent="0">
              <a:buNone/>
            </a:pPr>
            <a:r>
              <a:rPr lang="en-US" sz="1250" i="1" dirty="0">
                <a:solidFill>
                  <a:srgbClr val="1E5C4A"/>
                </a:solidFill>
                <a:latin typeface="Calibri" pitchFamily="34" charset="0"/>
                <a:ea typeface="Calibri" pitchFamily="34" charset="-122"/>
                <a:cs typeface="Calibri" pitchFamily="34" charset="-120"/>
              </a:rPr>
              <a:t>Grounded in real freight-pricing governance at Trella (Pakistan) — synthetic data, real rate-card and exception logic</a:t>
            </a:r>
            <a:endParaRPr lang="en-US" sz="1250" dirty="0"/>
          </a:p>
        </p:txBody>
      </p:sp>
      <p:sp>
        <p:nvSpPr>
          <p:cNvPr id="5" name="Shape 3"/>
          <p:cNvSpPr/>
          <p:nvPr/>
        </p:nvSpPr>
        <p:spPr>
          <a:xfrm>
            <a:off x="548640" y="2029968"/>
            <a:ext cx="11091672" cy="0"/>
          </a:xfrm>
          <a:prstGeom prst="line">
            <a:avLst/>
          </a:prstGeom>
          <a:noFill/>
          <a:ln w="12700">
            <a:solidFill>
              <a:srgbClr val="E5E5E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2386584"/>
            <a:ext cx="91440" cy="91440"/>
          </a:xfrm>
          <a:prstGeom prst="rect">
            <a:avLst/>
          </a:prstGeom>
        </p:spPr>
      </p:pic>
      <p:sp>
        <p:nvSpPr>
          <p:cNvPr id="7" name="Text 4"/>
          <p:cNvSpPr/>
          <p:nvPr/>
        </p:nvSpPr>
        <p:spPr>
          <a:xfrm>
            <a:off x="749808" y="2295144"/>
            <a:ext cx="3252216" cy="274320"/>
          </a:xfrm>
          <a:prstGeom prst="rect">
            <a:avLst/>
          </a:prstGeom>
          <a:noFill/>
          <a:ln/>
        </p:spPr>
        <p:txBody>
          <a:bodyPr wrap="square" lIns="0" tIns="0" rIns="0" bIns="0" rtlCol="0" anchor="ctr"/>
          <a:lstStyle/>
          <a:p>
            <a:pPr marL="0" indent="0">
              <a:buNone/>
            </a:pPr>
            <a:r>
              <a:rPr lang="en-US" sz="1050" b="1" kern="0" spc="100" dirty="0">
                <a:solidFill>
                  <a:srgbClr val="9A3412"/>
                </a:solidFill>
                <a:latin typeface="Calibri" pitchFamily="34" charset="0"/>
                <a:ea typeface="Calibri" pitchFamily="34" charset="-122"/>
                <a:cs typeface="Calibri" pitchFamily="34" charset="-120"/>
              </a:rPr>
              <a:t>COMMERCIAL</a:t>
            </a:r>
            <a:endParaRPr lang="en-US" sz="1050" dirty="0"/>
          </a:p>
        </p:txBody>
      </p:sp>
      <p:sp>
        <p:nvSpPr>
          <p:cNvPr id="8" name="Text 5"/>
          <p:cNvSpPr/>
          <p:nvPr/>
        </p:nvSpPr>
        <p:spPr>
          <a:xfrm>
            <a:off x="548640" y="2679192"/>
            <a:ext cx="3453384" cy="594360"/>
          </a:xfrm>
          <a:prstGeom prst="rect">
            <a:avLst/>
          </a:prstGeom>
          <a:noFill/>
          <a:ln/>
        </p:spPr>
        <p:txBody>
          <a:bodyPr wrap="square" lIns="0" tIns="0" rIns="0" bIns="0" rtlCol="0" anchor="t"/>
          <a:lstStyle/>
          <a:p>
            <a:pPr marL="0" indent="0">
              <a:lnSpc>
                <a:spcPct val="105000"/>
              </a:lnSpc>
              <a:buNone/>
            </a:pPr>
            <a:r>
              <a:rPr lang="en-US" sz="1500" b="1" dirty="0">
                <a:solidFill>
                  <a:srgbClr val="0F1419"/>
                </a:solidFill>
                <a:latin typeface="Cambria" pitchFamily="34" charset="0"/>
                <a:ea typeface="Cambria" pitchFamily="34" charset="-122"/>
                <a:cs typeface="Cambria" pitchFamily="34" charset="-120"/>
              </a:rPr>
              <a:t>No price floor enforcement</a:t>
            </a:r>
            <a:endParaRPr lang="en-US" sz="1500" dirty="0"/>
          </a:p>
        </p:txBody>
      </p:sp>
      <p:sp>
        <p:nvSpPr>
          <p:cNvPr id="9" name="Text 6"/>
          <p:cNvSpPr/>
          <p:nvPr/>
        </p:nvSpPr>
        <p:spPr>
          <a:xfrm>
            <a:off x="548640" y="3291840"/>
            <a:ext cx="3453384" cy="1188720"/>
          </a:xfrm>
          <a:prstGeom prst="rect">
            <a:avLst/>
          </a:prstGeom>
          <a:noFill/>
          <a:ln/>
        </p:spPr>
        <p:txBody>
          <a:bodyPr wrap="square" lIns="0" tIns="0" rIns="0" bIns="0" rtlCol="0" anchor="t"/>
          <a:lstStyle/>
          <a:p>
            <a:pPr marL="0" indent="0">
              <a:lnSpc>
                <a:spcPct val="118000"/>
              </a:lnSpc>
              <a:buNone/>
            </a:pPr>
            <a:r>
              <a:rPr lang="en-US" sz="1150" dirty="0">
                <a:solidFill>
                  <a:srgbClr val="374151"/>
                </a:solidFill>
                <a:latin typeface="Calibri" pitchFamily="34" charset="0"/>
                <a:ea typeface="Calibri" pitchFamily="34" charset="-122"/>
                <a:cs typeface="Calibri" pitchFamily="34" charset="-120"/>
              </a:rPr>
              <a:t>Deals got quoted and confirmed below carrier cost. Margin went negative before anyone noticed it.</a:t>
            </a:r>
            <a:endParaRPr lang="en-US" sz="1150" dirty="0"/>
          </a:p>
        </p:txBody>
      </p:sp>
      <p:pic>
        <p:nvPicPr>
          <p:cNvPr id="10" name="Image 1" descr="preencoded.png"/>
          <p:cNvPicPr>
            <a:picLocks noChangeAspect="1"/>
          </p:cNvPicPr>
          <p:nvPr/>
        </p:nvPicPr>
        <p:blipFill>
          <a:blip r:embed="rId3"/>
          <a:stretch>
            <a:fillRect/>
          </a:stretch>
        </p:blipFill>
        <p:spPr>
          <a:xfrm>
            <a:off x="4367784" y="2386584"/>
            <a:ext cx="91440" cy="91440"/>
          </a:xfrm>
          <a:prstGeom prst="rect">
            <a:avLst/>
          </a:prstGeom>
        </p:spPr>
      </p:pic>
      <p:sp>
        <p:nvSpPr>
          <p:cNvPr id="11" name="Text 7"/>
          <p:cNvSpPr/>
          <p:nvPr/>
        </p:nvSpPr>
        <p:spPr>
          <a:xfrm>
            <a:off x="4568952" y="2295144"/>
            <a:ext cx="3252216" cy="274320"/>
          </a:xfrm>
          <a:prstGeom prst="rect">
            <a:avLst/>
          </a:prstGeom>
          <a:noFill/>
          <a:ln/>
        </p:spPr>
        <p:txBody>
          <a:bodyPr wrap="square" lIns="0" tIns="0" rIns="0" bIns="0" rtlCol="0" anchor="ctr"/>
          <a:lstStyle/>
          <a:p>
            <a:pPr marL="0" indent="0">
              <a:buNone/>
            </a:pPr>
            <a:r>
              <a:rPr lang="en-US" sz="1050" b="1" kern="0" spc="100" dirty="0">
                <a:solidFill>
                  <a:srgbClr val="9A3412"/>
                </a:solidFill>
                <a:latin typeface="Calibri" pitchFamily="34" charset="0"/>
                <a:ea typeface="Calibri" pitchFamily="34" charset="-122"/>
                <a:cs typeface="Calibri" pitchFamily="34" charset="-120"/>
              </a:rPr>
              <a:t>FINANCE &amp; COLLECTIONS</a:t>
            </a:r>
            <a:endParaRPr lang="en-US" sz="1050" dirty="0"/>
          </a:p>
        </p:txBody>
      </p:sp>
      <p:sp>
        <p:nvSpPr>
          <p:cNvPr id="12" name="Text 8"/>
          <p:cNvSpPr/>
          <p:nvPr/>
        </p:nvSpPr>
        <p:spPr>
          <a:xfrm>
            <a:off x="4367784" y="2679192"/>
            <a:ext cx="3453384" cy="594360"/>
          </a:xfrm>
          <a:prstGeom prst="rect">
            <a:avLst/>
          </a:prstGeom>
          <a:noFill/>
          <a:ln/>
        </p:spPr>
        <p:txBody>
          <a:bodyPr wrap="square" lIns="0" tIns="0" rIns="0" bIns="0" rtlCol="0" anchor="t"/>
          <a:lstStyle/>
          <a:p>
            <a:pPr marL="0" indent="0">
              <a:lnSpc>
                <a:spcPct val="105000"/>
              </a:lnSpc>
              <a:buNone/>
            </a:pPr>
            <a:r>
              <a:rPr lang="en-US" sz="1500" b="1" dirty="0">
                <a:solidFill>
                  <a:srgbClr val="0F1419"/>
                </a:solidFill>
                <a:latin typeface="Cambria" pitchFamily="34" charset="0"/>
                <a:ea typeface="Cambria" pitchFamily="34" charset="-122"/>
                <a:cs typeface="Cambria" pitchFamily="34" charset="-120"/>
              </a:rPr>
              <a:t>Collections risk was invisible</a:t>
            </a:r>
            <a:endParaRPr lang="en-US" sz="1500" dirty="0"/>
          </a:p>
        </p:txBody>
      </p:sp>
      <p:sp>
        <p:nvSpPr>
          <p:cNvPr id="13" name="Text 9"/>
          <p:cNvSpPr/>
          <p:nvPr/>
        </p:nvSpPr>
        <p:spPr>
          <a:xfrm>
            <a:off x="4367784" y="3291840"/>
            <a:ext cx="3453384" cy="1188720"/>
          </a:xfrm>
          <a:prstGeom prst="rect">
            <a:avLst/>
          </a:prstGeom>
          <a:noFill/>
          <a:ln/>
        </p:spPr>
        <p:txBody>
          <a:bodyPr wrap="square" lIns="0" tIns="0" rIns="0" bIns="0" rtlCol="0" anchor="t"/>
          <a:lstStyle/>
          <a:p>
            <a:pPr marL="0" indent="0">
              <a:lnSpc>
                <a:spcPct val="118000"/>
              </a:lnSpc>
              <a:buNone/>
            </a:pPr>
            <a:r>
              <a:rPr lang="en-US" sz="1150" dirty="0">
                <a:solidFill>
                  <a:srgbClr val="374151"/>
                </a:solidFill>
                <a:latin typeface="Calibri" pitchFamily="34" charset="0"/>
                <a:ea typeface="Calibri" pitchFamily="34" charset="-122"/>
                <a:cs typeface="Calibri" pitchFamily="34" charset="-120"/>
              </a:rPr>
              <a:t>Shippers with high AR days and high overdue ratios kept getting new deals and extended credit.</a:t>
            </a:r>
            <a:endParaRPr lang="en-US" sz="1150" dirty="0"/>
          </a:p>
        </p:txBody>
      </p:sp>
      <p:pic>
        <p:nvPicPr>
          <p:cNvPr id="14" name="Image 2" descr="preencoded.png"/>
          <p:cNvPicPr>
            <a:picLocks noChangeAspect="1"/>
          </p:cNvPicPr>
          <p:nvPr/>
        </p:nvPicPr>
        <p:blipFill>
          <a:blip r:embed="rId3"/>
          <a:stretch>
            <a:fillRect/>
          </a:stretch>
        </p:blipFill>
        <p:spPr>
          <a:xfrm>
            <a:off x="8186928" y="2386584"/>
            <a:ext cx="91440" cy="91440"/>
          </a:xfrm>
          <a:prstGeom prst="rect">
            <a:avLst/>
          </a:prstGeom>
        </p:spPr>
      </p:pic>
      <p:sp>
        <p:nvSpPr>
          <p:cNvPr id="15" name="Text 10"/>
          <p:cNvSpPr/>
          <p:nvPr/>
        </p:nvSpPr>
        <p:spPr>
          <a:xfrm>
            <a:off x="8388096" y="2295144"/>
            <a:ext cx="3252216" cy="274320"/>
          </a:xfrm>
          <a:prstGeom prst="rect">
            <a:avLst/>
          </a:prstGeom>
          <a:noFill/>
          <a:ln/>
        </p:spPr>
        <p:txBody>
          <a:bodyPr wrap="square" lIns="0" tIns="0" rIns="0" bIns="0" rtlCol="0" anchor="ctr"/>
          <a:lstStyle/>
          <a:p>
            <a:pPr marL="0" indent="0">
              <a:buNone/>
            </a:pPr>
            <a:r>
              <a:rPr lang="en-US" sz="1050" b="1" kern="0" spc="100" dirty="0">
                <a:solidFill>
                  <a:srgbClr val="9A3412"/>
                </a:solidFill>
                <a:latin typeface="Calibri" pitchFamily="34" charset="0"/>
                <a:ea typeface="Calibri" pitchFamily="34" charset="-122"/>
                <a:cs typeface="Calibri" pitchFamily="34" charset="-120"/>
              </a:rPr>
              <a:t>MANAGEMENT</a:t>
            </a:r>
            <a:endParaRPr lang="en-US" sz="1050" dirty="0"/>
          </a:p>
        </p:txBody>
      </p:sp>
      <p:sp>
        <p:nvSpPr>
          <p:cNvPr id="16" name="Text 11"/>
          <p:cNvSpPr/>
          <p:nvPr/>
        </p:nvSpPr>
        <p:spPr>
          <a:xfrm>
            <a:off x="8186928" y="2679192"/>
            <a:ext cx="3453384" cy="594360"/>
          </a:xfrm>
          <a:prstGeom prst="rect">
            <a:avLst/>
          </a:prstGeom>
          <a:noFill/>
          <a:ln/>
        </p:spPr>
        <p:txBody>
          <a:bodyPr wrap="square" lIns="0" tIns="0" rIns="0" bIns="0" rtlCol="0" anchor="t"/>
          <a:lstStyle/>
          <a:p>
            <a:pPr marL="0" indent="0">
              <a:lnSpc>
                <a:spcPct val="105000"/>
              </a:lnSpc>
              <a:buNone/>
            </a:pPr>
            <a:r>
              <a:rPr lang="en-US" sz="1500" b="1" dirty="0">
                <a:solidFill>
                  <a:srgbClr val="0F1419"/>
                </a:solidFill>
                <a:latin typeface="Cambria" pitchFamily="34" charset="0"/>
                <a:ea typeface="Cambria" pitchFamily="34" charset="-122"/>
                <a:cs typeface="Cambria" pitchFamily="34" charset="-120"/>
              </a:rPr>
              <a:t>No shared owner or priority</a:t>
            </a:r>
            <a:endParaRPr lang="en-US" sz="1500" dirty="0"/>
          </a:p>
        </p:txBody>
      </p:sp>
      <p:sp>
        <p:nvSpPr>
          <p:cNvPr id="17" name="Text 12"/>
          <p:cNvSpPr/>
          <p:nvPr/>
        </p:nvSpPr>
        <p:spPr>
          <a:xfrm>
            <a:off x="8186928" y="3291840"/>
            <a:ext cx="3453384" cy="1188720"/>
          </a:xfrm>
          <a:prstGeom prst="rect">
            <a:avLst/>
          </a:prstGeom>
          <a:noFill/>
          <a:ln/>
        </p:spPr>
        <p:txBody>
          <a:bodyPr wrap="square" lIns="0" tIns="0" rIns="0" bIns="0" rtlCol="0" anchor="t"/>
          <a:lstStyle/>
          <a:p>
            <a:pPr marL="0" indent="0">
              <a:lnSpc>
                <a:spcPct val="118000"/>
              </a:lnSpc>
              <a:buNone/>
            </a:pPr>
            <a:r>
              <a:rPr lang="en-US" sz="1150" dirty="0">
                <a:solidFill>
                  <a:srgbClr val="374151"/>
                </a:solidFill>
                <a:latin typeface="Calibri" pitchFamily="34" charset="0"/>
                <a:ea typeface="Calibri" pitchFamily="34" charset="-122"/>
                <a:cs typeface="Calibri" pitchFamily="34" charset="-120"/>
              </a:rPr>
              <a:t>Pricing issues, collections issues and strategic exceptions all landed in the same inbox — no ranked list of what to fix, by whom, by when.</a:t>
            </a:r>
            <a:endParaRPr lang="en-US" sz="1150" dirty="0"/>
          </a:p>
        </p:txBody>
      </p:sp>
      <p:sp>
        <p:nvSpPr>
          <p:cNvPr id="18" name="Shape 13"/>
          <p:cNvSpPr/>
          <p:nvPr/>
        </p:nvSpPr>
        <p:spPr>
          <a:xfrm>
            <a:off x="548640" y="4663440"/>
            <a:ext cx="11091672" cy="0"/>
          </a:xfrm>
          <a:prstGeom prst="line">
            <a:avLst/>
          </a:prstGeom>
          <a:noFill/>
          <a:ln w="12700">
            <a:solidFill>
              <a:srgbClr val="E5E5E3"/>
            </a:solidFill>
            <a:prstDash val="solid"/>
          </a:ln>
        </p:spPr>
        <p:txBody>
          <a:bodyPr/>
          <a:lstStyle/>
          <a:p>
            <a:endParaRPr lang="en-US"/>
          </a:p>
        </p:txBody>
      </p:sp>
      <p:sp>
        <p:nvSpPr>
          <p:cNvPr id="19" name="Text 14"/>
          <p:cNvSpPr/>
          <p:nvPr/>
        </p:nvSpPr>
        <p:spPr>
          <a:xfrm>
            <a:off x="548640" y="4818888"/>
            <a:ext cx="11091672" cy="502920"/>
          </a:xfrm>
          <a:prstGeom prst="rect">
            <a:avLst/>
          </a:prstGeom>
          <a:noFill/>
          <a:ln/>
        </p:spPr>
        <p:txBody>
          <a:bodyPr wrap="square" lIns="0" tIns="0" rIns="0" bIns="0" rtlCol="0" anchor="t"/>
          <a:lstStyle/>
          <a:p>
            <a:pPr marL="0" indent="0">
              <a:lnSpc>
                <a:spcPct val="115000"/>
              </a:lnSpc>
              <a:buNone/>
            </a:pPr>
            <a:r>
              <a:rPr lang="en-US" sz="1250" b="1" dirty="0">
                <a:solidFill>
                  <a:srgbClr val="0F1419"/>
                </a:solidFill>
                <a:latin typeface="Calibri" pitchFamily="34" charset="0"/>
                <a:ea typeface="Calibri" pitchFamily="34" charset="-122"/>
                <a:cs typeface="Calibri" pitchFamily="34" charset="-120"/>
              </a:rPr>
              <a:t>What this tool does: </a:t>
            </a:r>
            <a:r>
              <a:rPr lang="en-US" sz="1250" dirty="0">
                <a:solidFill>
                  <a:srgbClr val="374151"/>
                </a:solidFill>
                <a:latin typeface="Calibri" pitchFamily="34" charset="0"/>
                <a:ea typeface="Calibri" pitchFamily="34" charset="-122"/>
                <a:cs typeface="Calibri" pitchFamily="34" charset="-120"/>
              </a:rPr>
              <a:t>checks every deal and every shipper against policy automatically, and produces one ranked action queue — routed by owner — that commercial, finance and management can all read off the same source.</a:t>
            </a:r>
            <a:endParaRPr lang="en-US" sz="1250" dirty="0"/>
          </a:p>
        </p:txBody>
      </p:sp>
      <p:sp>
        <p:nvSpPr>
          <p:cNvPr id="20" name="Text 15"/>
          <p:cNvSpPr/>
          <p:nvPr/>
        </p:nvSpPr>
        <p:spPr>
          <a:xfrm>
            <a:off x="548640" y="6355080"/>
            <a:ext cx="10634472"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Built with: Next.js · TypeScript · Tailwind · Anthropic Claude SDK · Make · Vercel</a:t>
            </a:r>
            <a:endParaRPr lang="en-US" sz="950" dirty="0"/>
          </a:p>
        </p:txBody>
      </p:sp>
      <p:sp>
        <p:nvSpPr>
          <p:cNvPr id="21" name="Text 16"/>
          <p:cNvSpPr/>
          <p:nvPr/>
        </p:nvSpPr>
        <p:spPr>
          <a:xfrm>
            <a:off x="11365992" y="6355080"/>
            <a:ext cx="2743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050" b="1" kern="0" spc="200" dirty="0">
                <a:solidFill>
                  <a:srgbClr val="8A9199"/>
                </a:solidFill>
                <a:latin typeface="Calibri" pitchFamily="34" charset="0"/>
                <a:ea typeface="Calibri" pitchFamily="34" charset="-122"/>
                <a:cs typeface="Calibri" pitchFamily="34" charset="-120"/>
              </a:rPr>
              <a:t>THE DESIGN DECISION</a:t>
            </a:r>
            <a:endParaRPr lang="en-US" sz="1050" dirty="0"/>
          </a:p>
        </p:txBody>
      </p:sp>
      <p:sp>
        <p:nvSpPr>
          <p:cNvPr id="3" name="Text 1"/>
          <p:cNvSpPr/>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200" b="1" dirty="0">
                <a:solidFill>
                  <a:srgbClr val="FFFFFF"/>
                </a:solidFill>
                <a:latin typeface="Cambria" pitchFamily="34" charset="0"/>
                <a:ea typeface="Cambria" pitchFamily="34" charset="-122"/>
                <a:cs typeface="Cambria" pitchFamily="34" charset="-120"/>
              </a:rPr>
              <a:t>Most AI tools send every case to the model. </a:t>
            </a:r>
            <a:r>
              <a:rPr lang="en-US" sz="2200" b="1" dirty="0">
                <a:solidFill>
                  <a:srgbClr val="5FB89A"/>
                </a:solidFill>
                <a:latin typeface="Cambria" pitchFamily="34" charset="0"/>
                <a:ea typeface="Cambria" pitchFamily="34" charset="-122"/>
                <a:cs typeface="Cambria" pitchFamily="34" charset="-120"/>
              </a:rPr>
              <a:t>This one doesn't — rules handle the predictable majority, and the model only sees what genuinely needs judgment.</a:t>
            </a:r>
            <a:endParaRPr lang="en-US" sz="2200" dirty="0"/>
          </a:p>
        </p:txBody>
      </p:sp>
      <p:sp>
        <p:nvSpPr>
          <p:cNvPr id="4" name="Shape 2"/>
          <p:cNvSpPr/>
          <p:nvPr/>
        </p:nvSpPr>
        <p:spPr>
          <a:xfrm>
            <a:off x="548640" y="2011680"/>
            <a:ext cx="3246120" cy="1874520"/>
          </a:xfrm>
          <a:prstGeom prst="roundRect">
            <a:avLst>
              <a:gd name="adj" fmla="val 3902"/>
            </a:avLst>
          </a:prstGeom>
          <a:solidFill>
            <a:srgbClr val="16201C"/>
          </a:solidFill>
          <a:ln w="15875">
            <a:solidFill>
              <a:srgbClr val="1E5C4A"/>
            </a:solidFill>
            <a:prstDash val="solid"/>
          </a:ln>
        </p:spPr>
        <p:txBody>
          <a:bodyPr/>
          <a:lstStyle/>
          <a:p>
            <a:endParaRPr lang="en-US"/>
          </a:p>
        </p:txBody>
      </p:sp>
      <p:sp>
        <p:nvSpPr>
          <p:cNvPr id="5" name="Text 3"/>
          <p:cNvSpPr/>
          <p:nvPr/>
        </p:nvSpPr>
        <p:spPr>
          <a:xfrm>
            <a:off x="777240" y="2194560"/>
            <a:ext cx="2788920" cy="274320"/>
          </a:xfrm>
          <a:prstGeom prst="rect">
            <a:avLst/>
          </a:prstGeom>
          <a:noFill/>
          <a:ln/>
        </p:spPr>
        <p:txBody>
          <a:bodyPr wrap="square" lIns="0" tIns="0" rIns="0" bIns="0" rtlCol="0" anchor="ctr"/>
          <a:lstStyle/>
          <a:p>
            <a:pPr marL="0" indent="0">
              <a:buNone/>
            </a:pPr>
            <a:r>
              <a:rPr lang="en-US" sz="1000" b="1" kern="0" spc="100" dirty="0">
                <a:solidFill>
                  <a:srgbClr val="5FB89A"/>
                </a:solidFill>
                <a:latin typeface="Calibri" pitchFamily="34" charset="0"/>
                <a:ea typeface="Calibri" pitchFamily="34" charset="-122"/>
                <a:cs typeface="Calibri" pitchFamily="34" charset="-120"/>
              </a:rPr>
              <a:t>01 — DETERMINISTIC</a:t>
            </a:r>
            <a:endParaRPr lang="en-US" sz="1000" dirty="0"/>
          </a:p>
        </p:txBody>
      </p:sp>
      <p:sp>
        <p:nvSpPr>
          <p:cNvPr id="6" name="Text 4"/>
          <p:cNvSpPr/>
          <p:nvPr/>
        </p:nvSpPr>
        <p:spPr>
          <a:xfrm>
            <a:off x="777240" y="2468880"/>
            <a:ext cx="278892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No model call</a:t>
            </a:r>
            <a:endParaRPr lang="en-US" sz="1700" dirty="0"/>
          </a:p>
        </p:txBody>
      </p:sp>
      <p:sp>
        <p:nvSpPr>
          <p:cNvPr id="7" name="Text 5"/>
          <p:cNvSpPr/>
          <p:nvPr/>
        </p:nvSpPr>
        <p:spPr>
          <a:xfrm>
            <a:off x="777240" y="2880360"/>
            <a:ext cx="2788920" cy="914400"/>
          </a:xfrm>
          <a:prstGeom prst="rect">
            <a:avLst/>
          </a:prstGeom>
          <a:noFill/>
          <a:ln/>
        </p:spPr>
        <p:txBody>
          <a:bodyPr wrap="square" lIns="0" tIns="0" rIns="0" bIns="0" rtlCol="0" anchor="t"/>
          <a:lstStyle/>
          <a:p>
            <a:pPr marL="0" indent="0">
              <a:lnSpc>
                <a:spcPct val="118000"/>
              </a:lnSpc>
              <a:buNone/>
            </a:pPr>
            <a:r>
              <a:rPr lang="en-US" sz="1050" dirty="0">
                <a:solidFill>
                  <a:srgbClr val="C5CBD1"/>
                </a:solidFill>
                <a:latin typeface="Calibri" pitchFamily="34" charset="0"/>
                <a:ea typeface="Calibri" pitchFamily="34" charset="-122"/>
                <a:cs typeface="Calibri" pitchFamily="34" charset="-120"/>
              </a:rPr>
              <a:t>Every deal checked against the rate card; every shipper checked against margin, AR-days and overdue thresholds. ~77% clear here — instantly, at zero marginal cost.</a:t>
            </a:r>
            <a:endParaRPr lang="en-US" sz="1050" dirty="0"/>
          </a:p>
        </p:txBody>
      </p:sp>
      <p:pic>
        <p:nvPicPr>
          <p:cNvPr id="8" name="Image 0" descr="preencoded.png"/>
          <p:cNvPicPr>
            <a:picLocks noChangeAspect="1"/>
          </p:cNvPicPr>
          <p:nvPr/>
        </p:nvPicPr>
        <p:blipFill>
          <a:blip r:embed="rId3"/>
          <a:stretch>
            <a:fillRect/>
          </a:stretch>
        </p:blipFill>
        <p:spPr>
          <a:xfrm>
            <a:off x="3904488" y="2839212"/>
            <a:ext cx="274320" cy="219456"/>
          </a:xfrm>
          <a:prstGeom prst="rect">
            <a:avLst/>
          </a:prstGeom>
        </p:spPr>
      </p:pic>
      <p:sp>
        <p:nvSpPr>
          <p:cNvPr id="9" name="Shape 6"/>
          <p:cNvSpPr/>
          <p:nvPr/>
        </p:nvSpPr>
        <p:spPr>
          <a:xfrm>
            <a:off x="4297680" y="2011680"/>
            <a:ext cx="3246120" cy="1874520"/>
          </a:xfrm>
          <a:prstGeom prst="roundRect">
            <a:avLst>
              <a:gd name="adj" fmla="val 3902"/>
            </a:avLst>
          </a:prstGeom>
          <a:solidFill>
            <a:srgbClr val="241B12"/>
          </a:solidFill>
          <a:ln w="15875">
            <a:solidFill>
              <a:srgbClr val="B45309"/>
            </a:solidFill>
            <a:prstDash val="solid"/>
          </a:ln>
        </p:spPr>
        <p:txBody>
          <a:bodyPr/>
          <a:lstStyle/>
          <a:p>
            <a:endParaRPr lang="en-US"/>
          </a:p>
        </p:txBody>
      </p:sp>
      <p:sp>
        <p:nvSpPr>
          <p:cNvPr id="10" name="Text 7"/>
          <p:cNvSpPr/>
          <p:nvPr/>
        </p:nvSpPr>
        <p:spPr>
          <a:xfrm>
            <a:off x="4526280" y="2194560"/>
            <a:ext cx="2788920" cy="274320"/>
          </a:xfrm>
          <a:prstGeom prst="rect">
            <a:avLst/>
          </a:prstGeom>
          <a:noFill/>
          <a:ln/>
        </p:spPr>
        <p:txBody>
          <a:bodyPr wrap="square" lIns="0" tIns="0" rIns="0" bIns="0" rtlCol="0" anchor="ctr"/>
          <a:lstStyle/>
          <a:p>
            <a:pPr marL="0" indent="0">
              <a:buNone/>
            </a:pPr>
            <a:r>
              <a:rPr lang="en-US" sz="1000" b="1" kern="0" spc="100" dirty="0">
                <a:solidFill>
                  <a:srgbClr val="E0A458"/>
                </a:solidFill>
                <a:latin typeface="Calibri" pitchFamily="34" charset="0"/>
                <a:ea typeface="Calibri" pitchFamily="34" charset="-122"/>
                <a:cs typeface="Calibri" pitchFamily="34" charset="-120"/>
              </a:rPr>
              <a:t>02 — AGENT (CLAUDE)</a:t>
            </a:r>
            <a:endParaRPr lang="en-US" sz="1000" dirty="0"/>
          </a:p>
        </p:txBody>
      </p:sp>
      <p:sp>
        <p:nvSpPr>
          <p:cNvPr id="11" name="Text 8"/>
          <p:cNvSpPr/>
          <p:nvPr/>
        </p:nvSpPr>
        <p:spPr>
          <a:xfrm>
            <a:off x="4526280" y="2468880"/>
            <a:ext cx="278892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Exceptions only</a:t>
            </a:r>
            <a:endParaRPr lang="en-US" sz="1700" dirty="0"/>
          </a:p>
        </p:txBody>
      </p:sp>
      <p:sp>
        <p:nvSpPr>
          <p:cNvPr id="12" name="Text 9"/>
          <p:cNvSpPr/>
          <p:nvPr/>
        </p:nvSpPr>
        <p:spPr>
          <a:xfrm>
            <a:off x="4526280" y="2880360"/>
            <a:ext cx="2788920" cy="914400"/>
          </a:xfrm>
          <a:prstGeom prst="rect">
            <a:avLst/>
          </a:prstGeom>
          <a:noFill/>
          <a:ln/>
        </p:spPr>
        <p:txBody>
          <a:bodyPr wrap="square" lIns="0" tIns="0" rIns="0" bIns="0" rtlCol="0" anchor="t"/>
          <a:lstStyle/>
          <a:p>
            <a:pPr marL="0" indent="0">
              <a:lnSpc>
                <a:spcPct val="118000"/>
              </a:lnSpc>
              <a:buNone/>
            </a:pPr>
            <a:r>
              <a:rPr lang="en-US" sz="1050" dirty="0">
                <a:solidFill>
                  <a:srgbClr val="C5CBD1"/>
                </a:solidFill>
                <a:latin typeface="Calibri" pitchFamily="34" charset="0"/>
                <a:ea typeface="Calibri" pitchFamily="34" charset="-122"/>
                <a:cs typeface="Calibri" pitchFamily="34" charset="-120"/>
              </a:rPr>
              <a:t>Runs only on the ~23% the rules flag. Looks up the rate card, reasons over account context, returns a typed verdict — approve exception, reject, or escalate — with a written rationale.</a:t>
            </a:r>
            <a:endParaRPr lang="en-US" sz="1050" dirty="0"/>
          </a:p>
        </p:txBody>
      </p:sp>
      <p:pic>
        <p:nvPicPr>
          <p:cNvPr id="13" name="Image 1" descr="preencoded.png"/>
          <p:cNvPicPr>
            <a:picLocks noChangeAspect="1"/>
          </p:cNvPicPr>
          <p:nvPr/>
        </p:nvPicPr>
        <p:blipFill>
          <a:blip r:embed="rId3"/>
          <a:stretch>
            <a:fillRect/>
          </a:stretch>
        </p:blipFill>
        <p:spPr>
          <a:xfrm>
            <a:off x="7653528" y="2839212"/>
            <a:ext cx="274320" cy="219456"/>
          </a:xfrm>
          <a:prstGeom prst="rect">
            <a:avLst/>
          </a:prstGeom>
        </p:spPr>
      </p:pic>
      <p:sp>
        <p:nvSpPr>
          <p:cNvPr id="14" name="Shape 10"/>
          <p:cNvSpPr/>
          <p:nvPr/>
        </p:nvSpPr>
        <p:spPr>
          <a:xfrm>
            <a:off x="8046720" y="2011680"/>
            <a:ext cx="3593592" cy="1874520"/>
          </a:xfrm>
          <a:prstGeom prst="roundRect">
            <a:avLst>
              <a:gd name="adj" fmla="val 3902"/>
            </a:avLst>
          </a:prstGeom>
          <a:solidFill>
            <a:srgbClr val="1A1F26"/>
          </a:solidFill>
          <a:ln w="15875">
            <a:solidFill>
              <a:srgbClr val="5B6470"/>
            </a:solidFill>
            <a:prstDash val="solid"/>
          </a:ln>
        </p:spPr>
        <p:txBody>
          <a:bodyPr/>
          <a:lstStyle/>
          <a:p>
            <a:endParaRPr lang="en-US"/>
          </a:p>
        </p:txBody>
      </p:sp>
      <p:sp>
        <p:nvSpPr>
          <p:cNvPr id="15" name="Text 11"/>
          <p:cNvSpPr/>
          <p:nvPr/>
        </p:nvSpPr>
        <p:spPr>
          <a:xfrm>
            <a:off x="8275320" y="2194560"/>
            <a:ext cx="3136392" cy="274320"/>
          </a:xfrm>
          <a:prstGeom prst="rect">
            <a:avLst/>
          </a:prstGeom>
          <a:noFill/>
          <a:ln/>
        </p:spPr>
        <p:txBody>
          <a:bodyPr wrap="square" lIns="0" tIns="0" rIns="0" bIns="0" rtlCol="0" anchor="ctr"/>
          <a:lstStyle/>
          <a:p>
            <a:pPr marL="0" indent="0">
              <a:buNone/>
            </a:pPr>
            <a:r>
              <a:rPr lang="en-US" sz="1000" b="1" kern="0" spc="100" dirty="0">
                <a:solidFill>
                  <a:srgbClr val="9CA7B3"/>
                </a:solidFill>
                <a:latin typeface="Calibri" pitchFamily="34" charset="0"/>
                <a:ea typeface="Calibri" pitchFamily="34" charset="-122"/>
                <a:cs typeface="Calibri" pitchFamily="34" charset="-120"/>
              </a:rPr>
              <a:t>03 — HUMAN OWNER</a:t>
            </a:r>
            <a:endParaRPr lang="en-US" sz="1000" dirty="0"/>
          </a:p>
        </p:txBody>
      </p:sp>
      <p:sp>
        <p:nvSpPr>
          <p:cNvPr id="16" name="Text 12"/>
          <p:cNvSpPr/>
          <p:nvPr/>
        </p:nvSpPr>
        <p:spPr>
          <a:xfrm>
            <a:off x="8275320" y="2468880"/>
            <a:ext cx="3136392"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Final say on risk</a:t>
            </a:r>
            <a:endParaRPr lang="en-US" sz="1700" dirty="0"/>
          </a:p>
        </p:txBody>
      </p:sp>
      <p:sp>
        <p:nvSpPr>
          <p:cNvPr id="17" name="Text 13"/>
          <p:cNvSpPr/>
          <p:nvPr/>
        </p:nvSpPr>
        <p:spPr>
          <a:xfrm>
            <a:off x="8275320" y="2880360"/>
            <a:ext cx="3136392" cy="914400"/>
          </a:xfrm>
          <a:prstGeom prst="rect">
            <a:avLst/>
          </a:prstGeom>
          <a:noFill/>
          <a:ln/>
        </p:spPr>
        <p:txBody>
          <a:bodyPr wrap="square" lIns="0" tIns="0" rIns="0" bIns="0" rtlCol="0" anchor="t"/>
          <a:lstStyle/>
          <a:p>
            <a:pPr marL="0" indent="0">
              <a:lnSpc>
                <a:spcPct val="118000"/>
              </a:lnSpc>
              <a:buNone/>
            </a:pPr>
            <a:r>
              <a:rPr lang="en-US" sz="1050" dirty="0">
                <a:solidFill>
                  <a:srgbClr val="C5CBD1"/>
                </a:solidFill>
                <a:latin typeface="Calibri" pitchFamily="34" charset="0"/>
                <a:ea typeface="Calibri" pitchFamily="34" charset="-122"/>
                <a:cs typeface="Calibri" pitchFamily="34" charset="-120"/>
              </a:rPr>
              <a:t>Escalations route to the right owner by breach type — Vertical Lead, Collections Owner, or Commercial Manager. The agent never auto-approves a deal with money at risk.</a:t>
            </a:r>
            <a:endParaRPr lang="en-US" sz="1050" dirty="0"/>
          </a:p>
        </p:txBody>
      </p:sp>
      <p:sp>
        <p:nvSpPr>
          <p:cNvPr id="18" name="Shape 14"/>
          <p:cNvSpPr/>
          <p:nvPr/>
        </p:nvSpPr>
        <p:spPr>
          <a:xfrm>
            <a:off x="548640" y="4251960"/>
            <a:ext cx="11091672" cy="0"/>
          </a:xfrm>
          <a:prstGeom prst="line">
            <a:avLst/>
          </a:prstGeom>
          <a:noFill/>
          <a:ln w="12700">
            <a:solidFill>
              <a:srgbClr val="2A3138"/>
            </a:solidFill>
            <a:prstDash val="solid"/>
          </a:ln>
        </p:spPr>
        <p:txBody>
          <a:bodyPr/>
          <a:lstStyle/>
          <a:p>
            <a:endParaRPr lang="en-US"/>
          </a:p>
        </p:txBody>
      </p:sp>
      <p:sp>
        <p:nvSpPr>
          <p:cNvPr id="19" name="Text 15"/>
          <p:cNvSpPr/>
          <p:nvPr/>
        </p:nvSpPr>
        <p:spPr>
          <a:xfrm>
            <a:off x="548640" y="4416552"/>
            <a:ext cx="11091672" cy="777240"/>
          </a:xfrm>
          <a:prstGeom prst="rect">
            <a:avLst/>
          </a:prstGeom>
          <a:noFill/>
          <a:ln/>
        </p:spPr>
        <p:txBody>
          <a:bodyPr wrap="square" lIns="0" tIns="0" rIns="0" bIns="0" rtlCol="0" anchor="t"/>
          <a:lstStyle/>
          <a:p>
            <a:pPr marL="0" indent="0">
              <a:lnSpc>
                <a:spcPct val="122000"/>
              </a:lnSpc>
              <a:buNone/>
            </a:pPr>
            <a:r>
              <a:rPr lang="en-US" sz="1200" b="1" dirty="0">
                <a:solidFill>
                  <a:srgbClr val="FFFFFF"/>
                </a:solidFill>
                <a:latin typeface="Calibri" pitchFamily="34" charset="0"/>
                <a:ea typeface="Calibri" pitchFamily="34" charset="-122"/>
                <a:cs typeface="Calibri" pitchFamily="34" charset="-120"/>
              </a:rPr>
              <a:t>Why this split, not a model on everything: </a:t>
            </a:r>
            <a:r>
              <a:rPr lang="en-US" sz="1200" dirty="0">
                <a:solidFill>
                  <a:srgbClr val="C5CBD1"/>
                </a:solidFill>
                <a:latin typeface="Calibri" pitchFamily="34" charset="0"/>
                <a:ea typeface="Calibri" pitchFamily="34" charset="-122"/>
                <a:cs typeface="Calibri" pitchFamily="34" charset="-120"/>
              </a:rPr>
              <a:t>without the deterministic layer, an AI-only tool would need ~95%+ accuracy to be trusted on commercial pricing decisions. With it, the agent only has to be accurate on the genuinely hard cases — and the escalation path means the system can tolerate being wrong, because a human always has final say.</a:t>
            </a:r>
            <a:endParaRPr lang="en-US" sz="1200" dirty="0"/>
          </a:p>
        </p:txBody>
      </p:sp>
      <p:sp>
        <p:nvSpPr>
          <p:cNvPr id="20" name="Text 16"/>
          <p:cNvSpPr/>
          <p:nvPr/>
        </p:nvSpPr>
        <p:spPr>
          <a:xfrm>
            <a:off x="11365992" y="6355080"/>
            <a:ext cx="274320" cy="274320"/>
          </a:xfrm>
          <a:prstGeom prst="rect">
            <a:avLst/>
          </a:prstGeom>
          <a:noFill/>
          <a:ln/>
        </p:spPr>
        <p:txBody>
          <a:bodyPr wrap="square" lIns="0" tIns="0" rIns="0" bIns="0" rtlCol="0" anchor="ctr"/>
          <a:lstStyle/>
          <a:p>
            <a:pPr marL="0" indent="0" algn="r">
              <a:buNone/>
            </a:pPr>
            <a:r>
              <a:rPr lang="en-US" sz="900" dirty="0">
                <a:solidFill>
                  <a:srgbClr val="5B64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050" b="1" kern="0" spc="200" dirty="0">
                <a:solidFill>
                  <a:srgbClr val="6B7280"/>
                </a:solidFill>
                <a:latin typeface="Calibri" pitchFamily="34" charset="0"/>
                <a:ea typeface="Calibri" pitchFamily="34" charset="-122"/>
                <a:cs typeface="Calibri" pitchFamily="34" charset="-120"/>
              </a:rPr>
              <a:t>OUTPUT &amp; NUMBERS</a:t>
            </a:r>
            <a:endParaRPr lang="en-US" sz="1050" dirty="0"/>
          </a:p>
        </p:txBody>
      </p:sp>
      <p:sp>
        <p:nvSpPr>
          <p:cNvPr id="3" name="Text 1"/>
          <p:cNvSpPr/>
          <p:nvPr/>
        </p:nvSpPr>
        <p:spPr>
          <a:xfrm>
            <a:off x="548640" y="713232"/>
            <a:ext cx="11091672" cy="777240"/>
          </a:xfrm>
          <a:prstGeom prst="rect">
            <a:avLst/>
          </a:prstGeom>
          <a:noFill/>
          <a:ln/>
        </p:spPr>
        <p:txBody>
          <a:bodyPr wrap="square" lIns="0" tIns="0" rIns="0" bIns="0" rtlCol="0" anchor="t"/>
          <a:lstStyle/>
          <a:p>
            <a:pPr marL="0" indent="0">
              <a:lnSpc>
                <a:spcPct val="105000"/>
              </a:lnSpc>
              <a:buNone/>
            </a:pPr>
            <a:r>
              <a:rPr lang="en-US" sz="2100" b="1" dirty="0">
                <a:solidFill>
                  <a:srgbClr val="0F1419"/>
                </a:solidFill>
                <a:latin typeface="Cambria" pitchFamily="34" charset="0"/>
                <a:ea typeface="Cambria" pitchFamily="34" charset="-122"/>
                <a:cs typeface="Cambria" pitchFamily="34" charset="-120"/>
              </a:rPr>
              <a:t>77% of the book clears automatically. The other 24 deals get a triaged, owner-routed action queue — not a spreadsheet someone has to interpret</a:t>
            </a:r>
            <a:endParaRPr lang="en-US" sz="2100" dirty="0"/>
          </a:p>
        </p:txBody>
      </p:sp>
      <p:sp>
        <p:nvSpPr>
          <p:cNvPr id="4" name="Shape 2"/>
          <p:cNvSpPr/>
          <p:nvPr/>
        </p:nvSpPr>
        <p:spPr>
          <a:xfrm>
            <a:off x="548640" y="1508760"/>
            <a:ext cx="11091672" cy="0"/>
          </a:xfrm>
          <a:prstGeom prst="line">
            <a:avLst/>
          </a:prstGeom>
          <a:noFill/>
          <a:ln w="12700">
            <a:solidFill>
              <a:srgbClr val="E5E5E3"/>
            </a:solidFill>
            <a:prstDash val="solid"/>
          </a:ln>
        </p:spPr>
        <p:txBody>
          <a:bodyPr/>
          <a:lstStyle/>
          <a:p>
            <a:endParaRPr lang="en-US"/>
          </a:p>
        </p:txBody>
      </p:sp>
      <p:sp>
        <p:nvSpPr>
          <p:cNvPr id="5" name="Shape 3"/>
          <p:cNvSpPr/>
          <p:nvPr/>
        </p:nvSpPr>
        <p:spPr>
          <a:xfrm>
            <a:off x="548640" y="1737360"/>
            <a:ext cx="2567178" cy="1143000"/>
          </a:xfrm>
          <a:prstGeom prst="roundRect">
            <a:avLst>
              <a:gd name="adj" fmla="val 4800"/>
            </a:avLst>
          </a:prstGeom>
          <a:solidFill>
            <a:srgbClr val="FFFFFF"/>
          </a:solidFill>
          <a:ln/>
          <a:effectLst>
            <a:outerShdw blurRad="101600" dist="25400" dir="5400000" algn="bl" rotWithShape="0">
              <a:srgbClr val="000000">
                <a:alpha val="8000"/>
              </a:srgbClr>
            </a:outerShdw>
          </a:effectLst>
        </p:spPr>
        <p:txBody>
          <a:bodyPr/>
          <a:lstStyle/>
          <a:p>
            <a:endParaRPr lang="en-US"/>
          </a:p>
        </p:txBody>
      </p:sp>
      <p:sp>
        <p:nvSpPr>
          <p:cNvPr id="6" name="Text 4"/>
          <p:cNvSpPr/>
          <p:nvPr/>
        </p:nvSpPr>
        <p:spPr>
          <a:xfrm>
            <a:off x="731520" y="1828800"/>
            <a:ext cx="2201418" cy="457200"/>
          </a:xfrm>
          <a:prstGeom prst="rect">
            <a:avLst/>
          </a:prstGeom>
          <a:noFill/>
          <a:ln/>
        </p:spPr>
        <p:txBody>
          <a:bodyPr wrap="square" lIns="0" tIns="0" rIns="0" bIns="0" rtlCol="0" anchor="ctr"/>
          <a:lstStyle/>
          <a:p>
            <a:pPr marL="0" indent="0">
              <a:buNone/>
            </a:pPr>
            <a:r>
              <a:rPr lang="en-US" sz="2600" b="1" dirty="0">
                <a:solidFill>
                  <a:srgbClr val="1E5C4A"/>
                </a:solidFill>
                <a:latin typeface="Cambria" pitchFamily="34" charset="0"/>
                <a:ea typeface="Cambria" pitchFamily="34" charset="-122"/>
                <a:cs typeface="Cambria" pitchFamily="34" charset="-120"/>
              </a:rPr>
              <a:t>77.1%</a:t>
            </a:r>
            <a:endParaRPr lang="en-US" sz="2600" dirty="0"/>
          </a:p>
        </p:txBody>
      </p:sp>
      <p:sp>
        <p:nvSpPr>
          <p:cNvPr id="7" name="Text 5"/>
          <p:cNvSpPr/>
          <p:nvPr/>
        </p:nvSpPr>
        <p:spPr>
          <a:xfrm>
            <a:off x="731520" y="2286000"/>
            <a:ext cx="2201418" cy="274320"/>
          </a:xfrm>
          <a:prstGeom prst="rect">
            <a:avLst/>
          </a:prstGeom>
          <a:noFill/>
          <a:ln/>
        </p:spPr>
        <p:txBody>
          <a:bodyPr wrap="square" lIns="0" tIns="0" rIns="0" bIns="0" rtlCol="0" anchor="ctr"/>
          <a:lstStyle/>
          <a:p>
            <a:pPr marL="0" indent="0">
              <a:buNone/>
            </a:pPr>
            <a:r>
              <a:rPr lang="en-US" sz="1100" b="1" dirty="0">
                <a:solidFill>
                  <a:srgbClr val="0F1419"/>
                </a:solidFill>
                <a:latin typeface="Calibri" pitchFamily="34" charset="0"/>
                <a:ea typeface="Calibri" pitchFamily="34" charset="-122"/>
                <a:cs typeface="Calibri" pitchFamily="34" charset="-120"/>
              </a:rPr>
              <a:t>In-policy</a:t>
            </a:r>
            <a:endParaRPr lang="en-US" sz="1100" dirty="0"/>
          </a:p>
        </p:txBody>
      </p:sp>
      <p:sp>
        <p:nvSpPr>
          <p:cNvPr id="8" name="Text 6"/>
          <p:cNvSpPr/>
          <p:nvPr/>
        </p:nvSpPr>
        <p:spPr>
          <a:xfrm>
            <a:off x="731520" y="2542032"/>
            <a:ext cx="2201418"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81 / 105 deals</a:t>
            </a:r>
            <a:endParaRPr lang="en-US" sz="950" dirty="0"/>
          </a:p>
        </p:txBody>
      </p:sp>
      <p:sp>
        <p:nvSpPr>
          <p:cNvPr id="9" name="Shape 7"/>
          <p:cNvSpPr/>
          <p:nvPr/>
        </p:nvSpPr>
        <p:spPr>
          <a:xfrm>
            <a:off x="3390138" y="1737360"/>
            <a:ext cx="2567178" cy="1143000"/>
          </a:xfrm>
          <a:prstGeom prst="roundRect">
            <a:avLst>
              <a:gd name="adj" fmla="val 4800"/>
            </a:avLst>
          </a:prstGeom>
          <a:solidFill>
            <a:srgbClr val="FFFFFF"/>
          </a:solidFill>
          <a:ln/>
          <a:effectLst>
            <a:outerShdw blurRad="101600" dist="25400" dir="5400000" algn="bl" rotWithShape="0">
              <a:srgbClr val="000000">
                <a:alpha val="8000"/>
              </a:srgbClr>
            </a:outerShdw>
          </a:effectLst>
        </p:spPr>
        <p:txBody>
          <a:bodyPr/>
          <a:lstStyle/>
          <a:p>
            <a:endParaRPr lang="en-US"/>
          </a:p>
        </p:txBody>
      </p:sp>
      <p:sp>
        <p:nvSpPr>
          <p:cNvPr id="10" name="Text 8"/>
          <p:cNvSpPr/>
          <p:nvPr/>
        </p:nvSpPr>
        <p:spPr>
          <a:xfrm>
            <a:off x="3573018" y="1828800"/>
            <a:ext cx="2201418" cy="457200"/>
          </a:xfrm>
          <a:prstGeom prst="rect">
            <a:avLst/>
          </a:prstGeom>
          <a:noFill/>
          <a:ln/>
        </p:spPr>
        <p:txBody>
          <a:bodyPr wrap="square" lIns="0" tIns="0" rIns="0" bIns="0" rtlCol="0" anchor="ctr"/>
          <a:lstStyle/>
          <a:p>
            <a:pPr marL="0" indent="0">
              <a:buNone/>
            </a:pPr>
            <a:r>
              <a:rPr lang="en-US" sz="2600" b="1" dirty="0">
                <a:solidFill>
                  <a:srgbClr val="1E5C4A"/>
                </a:solidFill>
                <a:latin typeface="Cambria" pitchFamily="34" charset="0"/>
                <a:ea typeface="Cambria" pitchFamily="34" charset="-122"/>
                <a:cs typeface="Cambria" pitchFamily="34" charset="-120"/>
              </a:rPr>
              <a:t>24</a:t>
            </a:r>
            <a:endParaRPr lang="en-US" sz="2600" dirty="0"/>
          </a:p>
        </p:txBody>
      </p:sp>
      <p:sp>
        <p:nvSpPr>
          <p:cNvPr id="11" name="Text 9"/>
          <p:cNvSpPr/>
          <p:nvPr/>
        </p:nvSpPr>
        <p:spPr>
          <a:xfrm>
            <a:off x="3573018" y="2286000"/>
            <a:ext cx="2201418" cy="274320"/>
          </a:xfrm>
          <a:prstGeom prst="rect">
            <a:avLst/>
          </a:prstGeom>
          <a:noFill/>
          <a:ln/>
        </p:spPr>
        <p:txBody>
          <a:bodyPr wrap="square" lIns="0" tIns="0" rIns="0" bIns="0" rtlCol="0" anchor="ctr"/>
          <a:lstStyle/>
          <a:p>
            <a:pPr marL="0" indent="0">
              <a:buNone/>
            </a:pPr>
            <a:r>
              <a:rPr lang="en-US" sz="1100" b="1" dirty="0">
                <a:solidFill>
                  <a:srgbClr val="0F1419"/>
                </a:solidFill>
                <a:latin typeface="Calibri" pitchFamily="34" charset="0"/>
                <a:ea typeface="Calibri" pitchFamily="34" charset="-122"/>
                <a:cs typeface="Calibri" pitchFamily="34" charset="-120"/>
              </a:rPr>
              <a:t>Flagged deals</a:t>
            </a:r>
            <a:endParaRPr lang="en-US" sz="1100" dirty="0"/>
          </a:p>
        </p:txBody>
      </p:sp>
      <p:sp>
        <p:nvSpPr>
          <p:cNvPr id="12" name="Text 10"/>
          <p:cNvSpPr/>
          <p:nvPr/>
        </p:nvSpPr>
        <p:spPr>
          <a:xfrm>
            <a:off x="3573018" y="2542032"/>
            <a:ext cx="2201418"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sent to AI triage</a:t>
            </a:r>
            <a:endParaRPr lang="en-US" sz="950" dirty="0"/>
          </a:p>
        </p:txBody>
      </p:sp>
      <p:sp>
        <p:nvSpPr>
          <p:cNvPr id="13" name="Shape 11"/>
          <p:cNvSpPr/>
          <p:nvPr/>
        </p:nvSpPr>
        <p:spPr>
          <a:xfrm>
            <a:off x="6231636" y="1737360"/>
            <a:ext cx="2567178" cy="1143000"/>
          </a:xfrm>
          <a:prstGeom prst="roundRect">
            <a:avLst>
              <a:gd name="adj" fmla="val 4800"/>
            </a:avLst>
          </a:prstGeom>
          <a:solidFill>
            <a:srgbClr val="FFFFFF"/>
          </a:solidFill>
          <a:ln/>
          <a:effectLst>
            <a:outerShdw blurRad="101600" dist="25400" dir="5400000" algn="bl" rotWithShape="0">
              <a:srgbClr val="000000">
                <a:alpha val="8000"/>
              </a:srgbClr>
            </a:outerShdw>
          </a:effectLst>
        </p:spPr>
        <p:txBody>
          <a:bodyPr/>
          <a:lstStyle/>
          <a:p>
            <a:endParaRPr lang="en-US"/>
          </a:p>
        </p:txBody>
      </p:sp>
      <p:sp>
        <p:nvSpPr>
          <p:cNvPr id="14" name="Text 12"/>
          <p:cNvSpPr/>
          <p:nvPr/>
        </p:nvSpPr>
        <p:spPr>
          <a:xfrm>
            <a:off x="6414516" y="1828800"/>
            <a:ext cx="2201418" cy="457200"/>
          </a:xfrm>
          <a:prstGeom prst="rect">
            <a:avLst/>
          </a:prstGeom>
          <a:noFill/>
          <a:ln/>
        </p:spPr>
        <p:txBody>
          <a:bodyPr wrap="square" lIns="0" tIns="0" rIns="0" bIns="0" rtlCol="0" anchor="ctr"/>
          <a:lstStyle/>
          <a:p>
            <a:pPr marL="0" indent="0">
              <a:buNone/>
            </a:pPr>
            <a:r>
              <a:rPr lang="en-US" sz="2600" b="1" dirty="0">
                <a:solidFill>
                  <a:srgbClr val="1E5C4A"/>
                </a:solidFill>
                <a:latin typeface="Cambria" pitchFamily="34" charset="0"/>
                <a:ea typeface="Cambria" pitchFamily="34" charset="-122"/>
                <a:cs typeface="Cambria" pitchFamily="34" charset="-120"/>
              </a:rPr>
              <a:t>5</a:t>
            </a:r>
            <a:endParaRPr lang="en-US" sz="2600" dirty="0"/>
          </a:p>
        </p:txBody>
      </p:sp>
      <p:sp>
        <p:nvSpPr>
          <p:cNvPr id="15" name="Text 13"/>
          <p:cNvSpPr/>
          <p:nvPr/>
        </p:nvSpPr>
        <p:spPr>
          <a:xfrm>
            <a:off x="6414516" y="2286000"/>
            <a:ext cx="2201418" cy="274320"/>
          </a:xfrm>
          <a:prstGeom prst="rect">
            <a:avLst/>
          </a:prstGeom>
          <a:noFill/>
          <a:ln/>
        </p:spPr>
        <p:txBody>
          <a:bodyPr wrap="square" lIns="0" tIns="0" rIns="0" bIns="0" rtlCol="0" anchor="ctr"/>
          <a:lstStyle/>
          <a:p>
            <a:pPr marL="0" indent="0">
              <a:buNone/>
            </a:pPr>
            <a:r>
              <a:rPr lang="en-US" sz="1100" b="1" dirty="0">
                <a:solidFill>
                  <a:srgbClr val="0F1419"/>
                </a:solidFill>
                <a:latin typeface="Calibri" pitchFamily="34" charset="0"/>
                <a:ea typeface="Calibri" pitchFamily="34" charset="-122"/>
                <a:cs typeface="Calibri" pitchFamily="34" charset="-120"/>
              </a:rPr>
              <a:t>Shippers at risk</a:t>
            </a:r>
            <a:endParaRPr lang="en-US" sz="1100" dirty="0"/>
          </a:p>
        </p:txBody>
      </p:sp>
      <p:sp>
        <p:nvSpPr>
          <p:cNvPr id="16" name="Text 14"/>
          <p:cNvSpPr/>
          <p:nvPr/>
        </p:nvSpPr>
        <p:spPr>
          <a:xfrm>
            <a:off x="6414516" y="2542032"/>
            <a:ext cx="2201418"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one or more red lens</a:t>
            </a:r>
            <a:endParaRPr lang="en-US" sz="950" dirty="0"/>
          </a:p>
        </p:txBody>
      </p:sp>
      <p:sp>
        <p:nvSpPr>
          <p:cNvPr id="17" name="Shape 15"/>
          <p:cNvSpPr/>
          <p:nvPr/>
        </p:nvSpPr>
        <p:spPr>
          <a:xfrm>
            <a:off x="9073134" y="1737360"/>
            <a:ext cx="2567178" cy="1143000"/>
          </a:xfrm>
          <a:prstGeom prst="roundRect">
            <a:avLst>
              <a:gd name="adj" fmla="val 4800"/>
            </a:avLst>
          </a:prstGeom>
          <a:solidFill>
            <a:srgbClr val="FFFFFF"/>
          </a:solidFill>
          <a:ln/>
          <a:effectLst>
            <a:outerShdw blurRad="101600" dist="25400" dir="5400000" algn="bl" rotWithShape="0">
              <a:srgbClr val="000000">
                <a:alpha val="8000"/>
              </a:srgbClr>
            </a:outerShdw>
          </a:effectLst>
        </p:spPr>
        <p:txBody>
          <a:bodyPr/>
          <a:lstStyle/>
          <a:p>
            <a:endParaRPr lang="en-US"/>
          </a:p>
        </p:txBody>
      </p:sp>
      <p:sp>
        <p:nvSpPr>
          <p:cNvPr id="18" name="Text 16"/>
          <p:cNvSpPr/>
          <p:nvPr/>
        </p:nvSpPr>
        <p:spPr>
          <a:xfrm>
            <a:off x="9256014" y="1828800"/>
            <a:ext cx="2201418" cy="457200"/>
          </a:xfrm>
          <a:prstGeom prst="rect">
            <a:avLst/>
          </a:prstGeom>
          <a:noFill/>
          <a:ln/>
        </p:spPr>
        <p:txBody>
          <a:bodyPr wrap="square" lIns="0" tIns="0" rIns="0" bIns="0" rtlCol="0" anchor="ctr"/>
          <a:lstStyle/>
          <a:p>
            <a:pPr marL="0" indent="0">
              <a:buNone/>
            </a:pPr>
            <a:r>
              <a:rPr lang="en-US" sz="2600" b="1" dirty="0">
                <a:solidFill>
                  <a:srgbClr val="1E5C4A"/>
                </a:solidFill>
                <a:latin typeface="Cambria" pitchFamily="34" charset="0"/>
                <a:ea typeface="Cambria" pitchFamily="34" charset="-122"/>
                <a:cs typeface="Cambria" pitchFamily="34" charset="-120"/>
              </a:rPr>
              <a:t>12</a:t>
            </a:r>
            <a:endParaRPr lang="en-US" sz="2600" dirty="0"/>
          </a:p>
        </p:txBody>
      </p:sp>
      <p:sp>
        <p:nvSpPr>
          <p:cNvPr id="19" name="Text 17"/>
          <p:cNvSpPr/>
          <p:nvPr/>
        </p:nvSpPr>
        <p:spPr>
          <a:xfrm>
            <a:off x="9256014" y="2286000"/>
            <a:ext cx="2201418" cy="274320"/>
          </a:xfrm>
          <a:prstGeom prst="rect">
            <a:avLst/>
          </a:prstGeom>
          <a:noFill/>
          <a:ln/>
        </p:spPr>
        <p:txBody>
          <a:bodyPr wrap="square" lIns="0" tIns="0" rIns="0" bIns="0" rtlCol="0" anchor="ctr"/>
          <a:lstStyle/>
          <a:p>
            <a:pPr marL="0" indent="0">
              <a:buNone/>
            </a:pPr>
            <a:r>
              <a:rPr lang="en-US" sz="1100" b="1" dirty="0">
                <a:solidFill>
                  <a:srgbClr val="0F1419"/>
                </a:solidFill>
                <a:latin typeface="Calibri" pitchFamily="34" charset="0"/>
                <a:ea typeface="Calibri" pitchFamily="34" charset="-122"/>
                <a:cs typeface="Calibri" pitchFamily="34" charset="-120"/>
              </a:rPr>
              <a:t>Shippers tracked</a:t>
            </a:r>
            <a:endParaRPr lang="en-US" sz="1100" dirty="0"/>
          </a:p>
        </p:txBody>
      </p:sp>
      <p:sp>
        <p:nvSpPr>
          <p:cNvPr id="20" name="Text 18"/>
          <p:cNvSpPr/>
          <p:nvPr/>
        </p:nvSpPr>
        <p:spPr>
          <a:xfrm>
            <a:off x="9256014" y="2542032"/>
            <a:ext cx="2201418"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9-month trend each</a:t>
            </a:r>
            <a:endParaRPr lang="en-US" sz="950" dirty="0"/>
          </a:p>
        </p:txBody>
      </p:sp>
      <p:sp>
        <p:nvSpPr>
          <p:cNvPr id="21" name="Text 19"/>
          <p:cNvSpPr/>
          <p:nvPr/>
        </p:nvSpPr>
        <p:spPr>
          <a:xfrm>
            <a:off x="548640" y="3246120"/>
            <a:ext cx="5486400" cy="274320"/>
          </a:xfrm>
          <a:prstGeom prst="rect">
            <a:avLst/>
          </a:prstGeom>
          <a:noFill/>
          <a:ln/>
        </p:spPr>
        <p:txBody>
          <a:bodyPr wrap="square" lIns="0" tIns="0" rIns="0" bIns="0" rtlCol="0" anchor="ctr"/>
          <a:lstStyle/>
          <a:p>
            <a:pPr marL="0" indent="0">
              <a:buNone/>
            </a:pPr>
            <a:r>
              <a:rPr lang="en-US" sz="1050" b="1" kern="0" spc="150" dirty="0">
                <a:solidFill>
                  <a:srgbClr val="6B7280"/>
                </a:solidFill>
                <a:latin typeface="Calibri" pitchFamily="34" charset="0"/>
                <a:ea typeface="Calibri" pitchFamily="34" charset="-122"/>
                <a:cs typeface="Calibri" pitchFamily="34" charset="-120"/>
              </a:rPr>
              <a:t>WHAT EACH TEAM SEES</a:t>
            </a:r>
            <a:endParaRPr lang="en-US" sz="1050" dirty="0"/>
          </a:p>
        </p:txBody>
      </p:sp>
      <p:sp>
        <p:nvSpPr>
          <p:cNvPr id="22" name="Text 20"/>
          <p:cNvSpPr/>
          <p:nvPr/>
        </p:nvSpPr>
        <p:spPr>
          <a:xfrm>
            <a:off x="548640" y="3566160"/>
            <a:ext cx="2377440" cy="475488"/>
          </a:xfrm>
          <a:prstGeom prst="rect">
            <a:avLst/>
          </a:prstGeom>
          <a:noFill/>
          <a:ln/>
        </p:spPr>
        <p:txBody>
          <a:bodyPr wrap="square" lIns="0" tIns="0" rIns="0" bIns="0" rtlCol="0" anchor="t"/>
          <a:lstStyle/>
          <a:p>
            <a:pPr marL="0" indent="0">
              <a:buNone/>
            </a:pPr>
            <a:r>
              <a:rPr lang="en-US" sz="1250" b="1" dirty="0">
                <a:solidFill>
                  <a:srgbClr val="0F1419"/>
                </a:solidFill>
                <a:latin typeface="Cambria" pitchFamily="34" charset="0"/>
                <a:ea typeface="Cambria" pitchFamily="34" charset="-122"/>
                <a:cs typeface="Cambria" pitchFamily="34" charset="-120"/>
              </a:rPr>
              <a:t>Portfolio view</a:t>
            </a:r>
            <a:endParaRPr lang="en-US" sz="1250" dirty="0"/>
          </a:p>
        </p:txBody>
      </p:sp>
      <p:sp>
        <p:nvSpPr>
          <p:cNvPr id="23" name="Text 21"/>
          <p:cNvSpPr/>
          <p:nvPr/>
        </p:nvSpPr>
        <p:spPr>
          <a:xfrm>
            <a:off x="3108960" y="3566160"/>
            <a:ext cx="8531352" cy="475488"/>
          </a:xfrm>
          <a:prstGeom prst="rect">
            <a:avLst/>
          </a:prstGeom>
          <a:noFill/>
          <a:ln/>
        </p:spPr>
        <p:txBody>
          <a:bodyPr wrap="square" lIns="0" tIns="0" rIns="0" bIns="0" rtlCol="0" anchor="t"/>
          <a:lstStyle/>
          <a:p>
            <a:pPr marL="0" indent="0">
              <a:lnSpc>
                <a:spcPct val="110000"/>
              </a:lnSpc>
              <a:buNone/>
            </a:pPr>
            <a:r>
              <a:rPr lang="en-US" sz="1100" dirty="0">
                <a:solidFill>
                  <a:srgbClr val="374151"/>
                </a:solidFill>
                <a:latin typeface="Calibri" pitchFamily="34" charset="0"/>
                <a:ea typeface="Calibri" pitchFamily="34" charset="-122"/>
                <a:cs typeface="Calibri" pitchFamily="34" charset="-120"/>
              </a:rPr>
              <a:t>All 12 shippers, 3 health lenses (pricing / collection / capacity), sorted by risk.</a:t>
            </a:r>
            <a:endParaRPr lang="en-US" sz="1100" dirty="0"/>
          </a:p>
        </p:txBody>
      </p:sp>
      <p:sp>
        <p:nvSpPr>
          <p:cNvPr id="24" name="Shape 22"/>
          <p:cNvSpPr/>
          <p:nvPr/>
        </p:nvSpPr>
        <p:spPr>
          <a:xfrm>
            <a:off x="548640" y="4078224"/>
            <a:ext cx="11091672" cy="0"/>
          </a:xfrm>
          <a:prstGeom prst="line">
            <a:avLst/>
          </a:prstGeom>
          <a:noFill/>
          <a:ln w="12700">
            <a:solidFill>
              <a:srgbClr val="E5E5E3"/>
            </a:solidFill>
            <a:prstDash val="solid"/>
          </a:ln>
        </p:spPr>
        <p:txBody>
          <a:bodyPr/>
          <a:lstStyle/>
          <a:p>
            <a:endParaRPr lang="en-US"/>
          </a:p>
        </p:txBody>
      </p:sp>
      <p:sp>
        <p:nvSpPr>
          <p:cNvPr id="25" name="Text 23"/>
          <p:cNvSpPr/>
          <p:nvPr/>
        </p:nvSpPr>
        <p:spPr>
          <a:xfrm>
            <a:off x="548640" y="4133088"/>
            <a:ext cx="2377440" cy="475488"/>
          </a:xfrm>
          <a:prstGeom prst="rect">
            <a:avLst/>
          </a:prstGeom>
          <a:noFill/>
          <a:ln/>
        </p:spPr>
        <p:txBody>
          <a:bodyPr wrap="square" lIns="0" tIns="0" rIns="0" bIns="0" rtlCol="0" anchor="t"/>
          <a:lstStyle/>
          <a:p>
            <a:pPr marL="0" indent="0">
              <a:buNone/>
            </a:pPr>
            <a:r>
              <a:rPr lang="en-US" sz="1250" b="1" dirty="0">
                <a:solidFill>
                  <a:srgbClr val="0F1419"/>
                </a:solidFill>
                <a:latin typeface="Cambria" pitchFamily="34" charset="0"/>
                <a:ea typeface="Cambria" pitchFamily="34" charset="-122"/>
                <a:cs typeface="Cambria" pitchFamily="34" charset="-120"/>
              </a:rPr>
              <a:t>Shipper drill-down</a:t>
            </a:r>
            <a:endParaRPr lang="en-US" sz="1250" dirty="0"/>
          </a:p>
        </p:txBody>
      </p:sp>
      <p:sp>
        <p:nvSpPr>
          <p:cNvPr id="26" name="Text 24"/>
          <p:cNvSpPr/>
          <p:nvPr/>
        </p:nvSpPr>
        <p:spPr>
          <a:xfrm>
            <a:off x="3108960" y="4133088"/>
            <a:ext cx="8531352" cy="475488"/>
          </a:xfrm>
          <a:prstGeom prst="rect">
            <a:avLst/>
          </a:prstGeom>
          <a:noFill/>
          <a:ln/>
        </p:spPr>
        <p:txBody>
          <a:bodyPr wrap="square" lIns="0" tIns="0" rIns="0" bIns="0" rtlCol="0" anchor="t"/>
          <a:lstStyle/>
          <a:p>
            <a:pPr marL="0" indent="0">
              <a:lnSpc>
                <a:spcPct val="110000"/>
              </a:lnSpc>
              <a:buNone/>
            </a:pPr>
            <a:r>
              <a:rPr lang="en-US" sz="1100" dirty="0">
                <a:solidFill>
                  <a:srgbClr val="374151"/>
                </a:solidFill>
                <a:latin typeface="Calibri" pitchFamily="34" charset="0"/>
                <a:ea typeface="Calibri" pitchFamily="34" charset="-122"/>
                <a:cs typeface="Calibri" pitchFamily="34" charset="-120"/>
              </a:rPr>
              <a:t>9-month trend per shipper, full deal table, metric cards against each threshold.</a:t>
            </a:r>
            <a:endParaRPr lang="en-US" sz="1100" dirty="0"/>
          </a:p>
        </p:txBody>
      </p:sp>
      <p:sp>
        <p:nvSpPr>
          <p:cNvPr id="27" name="Shape 25"/>
          <p:cNvSpPr/>
          <p:nvPr/>
        </p:nvSpPr>
        <p:spPr>
          <a:xfrm>
            <a:off x="548640" y="4645152"/>
            <a:ext cx="11091672" cy="0"/>
          </a:xfrm>
          <a:prstGeom prst="line">
            <a:avLst/>
          </a:prstGeom>
          <a:noFill/>
          <a:ln w="12700">
            <a:solidFill>
              <a:srgbClr val="E5E5E3"/>
            </a:solidFill>
            <a:prstDash val="solid"/>
          </a:ln>
        </p:spPr>
        <p:txBody>
          <a:bodyPr/>
          <a:lstStyle/>
          <a:p>
            <a:endParaRPr lang="en-US"/>
          </a:p>
        </p:txBody>
      </p:sp>
      <p:sp>
        <p:nvSpPr>
          <p:cNvPr id="28" name="Text 26"/>
          <p:cNvSpPr/>
          <p:nvPr/>
        </p:nvSpPr>
        <p:spPr>
          <a:xfrm>
            <a:off x="548640" y="4700016"/>
            <a:ext cx="2377440" cy="475488"/>
          </a:xfrm>
          <a:prstGeom prst="rect">
            <a:avLst/>
          </a:prstGeom>
          <a:noFill/>
          <a:ln/>
        </p:spPr>
        <p:txBody>
          <a:bodyPr wrap="square" lIns="0" tIns="0" rIns="0" bIns="0" rtlCol="0" anchor="t"/>
          <a:lstStyle/>
          <a:p>
            <a:pPr marL="0" indent="0">
              <a:buNone/>
            </a:pPr>
            <a:r>
              <a:rPr lang="en-US" sz="1250" b="1" dirty="0">
                <a:solidFill>
                  <a:srgbClr val="0F1419"/>
                </a:solidFill>
                <a:latin typeface="Cambria" pitchFamily="34" charset="0"/>
                <a:ea typeface="Cambria" pitchFamily="34" charset="-122"/>
                <a:cs typeface="Cambria" pitchFamily="34" charset="-120"/>
              </a:rPr>
              <a:t>Action queue</a:t>
            </a:r>
            <a:endParaRPr lang="en-US" sz="1250" dirty="0"/>
          </a:p>
        </p:txBody>
      </p:sp>
      <p:sp>
        <p:nvSpPr>
          <p:cNvPr id="29" name="Text 27"/>
          <p:cNvSpPr/>
          <p:nvPr/>
        </p:nvSpPr>
        <p:spPr>
          <a:xfrm>
            <a:off x="3108960" y="4700016"/>
            <a:ext cx="8531352" cy="475488"/>
          </a:xfrm>
          <a:prstGeom prst="rect">
            <a:avLst/>
          </a:prstGeom>
          <a:noFill/>
          <a:ln/>
        </p:spPr>
        <p:txBody>
          <a:bodyPr wrap="square" lIns="0" tIns="0" rIns="0" bIns="0" rtlCol="0" anchor="t"/>
          <a:lstStyle/>
          <a:p>
            <a:pPr marL="0" indent="0">
              <a:lnSpc>
                <a:spcPct val="110000"/>
              </a:lnSpc>
              <a:buNone/>
            </a:pPr>
            <a:r>
              <a:rPr lang="en-US" sz="1100" dirty="0">
                <a:solidFill>
                  <a:srgbClr val="374151"/>
                </a:solidFill>
                <a:latin typeface="Calibri" pitchFamily="34" charset="0"/>
                <a:ea typeface="Calibri" pitchFamily="34" charset="-122"/>
                <a:cs typeface="Calibri" pitchFamily="34" charset="-120"/>
              </a:rPr>
              <a:t>P0/P1 items by owner, status cycle, AI rationale visible on every entry.</a:t>
            </a:r>
            <a:endParaRPr lang="en-US" sz="1100" dirty="0"/>
          </a:p>
        </p:txBody>
      </p:sp>
      <p:sp>
        <p:nvSpPr>
          <p:cNvPr id="30" name="Shape 28"/>
          <p:cNvSpPr/>
          <p:nvPr/>
        </p:nvSpPr>
        <p:spPr>
          <a:xfrm>
            <a:off x="548640" y="5212080"/>
            <a:ext cx="11091672" cy="0"/>
          </a:xfrm>
          <a:prstGeom prst="line">
            <a:avLst/>
          </a:prstGeom>
          <a:noFill/>
          <a:ln w="12700">
            <a:solidFill>
              <a:srgbClr val="E5E5E3"/>
            </a:solidFill>
            <a:prstDash val="solid"/>
          </a:ln>
        </p:spPr>
        <p:txBody>
          <a:bodyPr/>
          <a:lstStyle/>
          <a:p>
            <a:endParaRPr lang="en-US"/>
          </a:p>
        </p:txBody>
      </p:sp>
      <p:sp>
        <p:nvSpPr>
          <p:cNvPr id="31" name="Text 29"/>
          <p:cNvSpPr/>
          <p:nvPr/>
        </p:nvSpPr>
        <p:spPr>
          <a:xfrm>
            <a:off x="548640" y="5266944"/>
            <a:ext cx="2377440" cy="475488"/>
          </a:xfrm>
          <a:prstGeom prst="rect">
            <a:avLst/>
          </a:prstGeom>
          <a:noFill/>
          <a:ln/>
        </p:spPr>
        <p:txBody>
          <a:bodyPr wrap="square" lIns="0" tIns="0" rIns="0" bIns="0" rtlCol="0" anchor="t"/>
          <a:lstStyle/>
          <a:p>
            <a:pPr marL="0" indent="0">
              <a:buNone/>
            </a:pPr>
            <a:r>
              <a:rPr lang="en-US" sz="1250" b="1" dirty="0">
                <a:solidFill>
                  <a:srgbClr val="0F1419"/>
                </a:solidFill>
                <a:latin typeface="Cambria" pitchFamily="34" charset="0"/>
                <a:ea typeface="Cambria" pitchFamily="34" charset="-122"/>
                <a:cs typeface="Cambria" pitchFamily="34" charset="-120"/>
              </a:rPr>
              <a:t>Weekly report</a:t>
            </a:r>
            <a:endParaRPr lang="en-US" sz="1250" dirty="0"/>
          </a:p>
        </p:txBody>
      </p:sp>
      <p:sp>
        <p:nvSpPr>
          <p:cNvPr id="32" name="Text 30"/>
          <p:cNvSpPr/>
          <p:nvPr/>
        </p:nvSpPr>
        <p:spPr>
          <a:xfrm>
            <a:off x="3108960" y="5266944"/>
            <a:ext cx="8531352" cy="475488"/>
          </a:xfrm>
          <a:prstGeom prst="rect">
            <a:avLst/>
          </a:prstGeom>
          <a:noFill/>
          <a:ln/>
        </p:spPr>
        <p:txBody>
          <a:bodyPr wrap="square" lIns="0" tIns="0" rIns="0" bIns="0" rtlCol="0" anchor="t"/>
          <a:lstStyle/>
          <a:p>
            <a:pPr marL="0" indent="0">
              <a:lnSpc>
                <a:spcPct val="110000"/>
              </a:lnSpc>
              <a:buNone/>
            </a:pPr>
            <a:r>
              <a:rPr lang="en-US" sz="1100" dirty="0">
                <a:solidFill>
                  <a:srgbClr val="374151"/>
                </a:solidFill>
                <a:latin typeface="Calibri" pitchFamily="34" charset="0"/>
                <a:ea typeface="Calibri" pitchFamily="34" charset="-122"/>
                <a:cs typeface="Calibri" pitchFamily="34" charset="-120"/>
              </a:rPr>
              <a:t>Month-on-month health deltas by shipper, actions grouped by owner — sent every Monday via Make.</a:t>
            </a:r>
            <a:endParaRPr lang="en-US" sz="1100" dirty="0"/>
          </a:p>
        </p:txBody>
      </p:sp>
      <p:sp>
        <p:nvSpPr>
          <p:cNvPr id="33" name="Text 31"/>
          <p:cNvSpPr/>
          <p:nvPr/>
        </p:nvSpPr>
        <p:spPr>
          <a:xfrm>
            <a:off x="548640" y="6355080"/>
            <a:ext cx="10634472"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Built with: Next.js · TypeScript · Tailwind · Anthropic Claude SDK · Make · Vercel</a:t>
            </a:r>
            <a:endParaRPr lang="en-US" sz="950" dirty="0"/>
          </a:p>
        </p:txBody>
      </p:sp>
      <p:sp>
        <p:nvSpPr>
          <p:cNvPr id="34" name="Text 32"/>
          <p:cNvSpPr/>
          <p:nvPr/>
        </p:nvSpPr>
        <p:spPr>
          <a:xfrm>
            <a:off x="11365992" y="6355080"/>
            <a:ext cx="2743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274320"/>
          </a:xfrm>
          <a:prstGeom prst="rect">
            <a:avLst/>
          </a:prstGeom>
          <a:noFill/>
          <a:ln/>
        </p:spPr>
        <p:txBody>
          <a:bodyPr wrap="square" lIns="0" tIns="0" rIns="0" bIns="0" rtlCol="0" anchor="ctr"/>
          <a:lstStyle/>
          <a:p>
            <a:pPr marL="0" indent="0">
              <a:buNone/>
            </a:pPr>
            <a:r>
              <a:rPr lang="en-US" sz="1050" b="1" kern="0" spc="200" dirty="0">
                <a:solidFill>
                  <a:srgbClr val="6B7280"/>
                </a:solidFill>
                <a:latin typeface="Calibri" pitchFamily="34" charset="0"/>
                <a:ea typeface="Calibri" pitchFamily="34" charset="-122"/>
                <a:cs typeface="Calibri" pitchFamily="34" charset="-120"/>
              </a:rPr>
              <a:t>EVALUATION &amp; FAILURE MODES</a:t>
            </a:r>
            <a:endParaRPr lang="en-US" sz="1050" dirty="0"/>
          </a:p>
        </p:txBody>
      </p:sp>
      <p:sp>
        <p:nvSpPr>
          <p:cNvPr id="3" name="Text 1"/>
          <p:cNvSpPr/>
          <p:nvPr/>
        </p:nvSpPr>
        <p:spPr>
          <a:xfrm>
            <a:off x="548640" y="713232"/>
            <a:ext cx="11091672" cy="777240"/>
          </a:xfrm>
          <a:prstGeom prst="rect">
            <a:avLst/>
          </a:prstGeom>
          <a:noFill/>
          <a:ln/>
        </p:spPr>
        <p:txBody>
          <a:bodyPr wrap="square" lIns="0" tIns="0" rIns="0" bIns="0" rtlCol="0" anchor="t"/>
          <a:lstStyle/>
          <a:p>
            <a:pPr marL="0" indent="0">
              <a:lnSpc>
                <a:spcPct val="108000"/>
              </a:lnSpc>
              <a:buNone/>
            </a:pPr>
            <a:r>
              <a:rPr lang="en-US" sz="1900" b="1" dirty="0">
                <a:solidFill>
                  <a:srgbClr val="0F1419"/>
                </a:solidFill>
                <a:latin typeface="Cambria" pitchFamily="34" charset="0"/>
                <a:ea typeface="Cambria" pitchFamily="34" charset="-122"/>
                <a:cs typeface="Cambria" pitchFamily="34" charset="-120"/>
              </a:rPr>
              <a:t>Expected accuracy is highest on clear violations and lowest on genuinely ambiguous calls — which is exactly where the architecture puts a human, not a coincidence</a:t>
            </a:r>
            <a:endParaRPr lang="en-US" sz="1900" dirty="0"/>
          </a:p>
        </p:txBody>
      </p:sp>
      <p:sp>
        <p:nvSpPr>
          <p:cNvPr id="4" name="Text 2"/>
          <p:cNvSpPr/>
          <p:nvPr/>
        </p:nvSpPr>
        <p:spPr>
          <a:xfrm>
            <a:off x="548640" y="1481328"/>
            <a:ext cx="11091672" cy="320040"/>
          </a:xfrm>
          <a:prstGeom prst="rect">
            <a:avLst/>
          </a:prstGeom>
          <a:noFill/>
          <a:ln/>
        </p:spPr>
        <p:txBody>
          <a:bodyPr wrap="square" lIns="0" tIns="0" rIns="0" bIns="0" rtlCol="0" anchor="ctr"/>
          <a:lstStyle/>
          <a:p>
            <a:pPr marL="0" indent="0">
              <a:buNone/>
            </a:pPr>
            <a:r>
              <a:rPr lang="en-US" sz="1050" i="1" dirty="0">
                <a:solidFill>
                  <a:srgbClr val="B45309"/>
                </a:solidFill>
                <a:latin typeface="Calibri" pitchFamily="34" charset="0"/>
                <a:ea typeface="Calibri" pitchFamily="34" charset="-122"/>
                <a:cs typeface="Calibri" pitchFamily="34" charset="-120"/>
              </a:rPr>
              <a:t>Expected accuracy, not measured — no live API calls were run in this build. Estimated from case structure; running POST /api/review against deals.json would produce real numbers against this same table.</a:t>
            </a:r>
            <a:endParaRPr lang="en-US" sz="1050" dirty="0"/>
          </a:p>
        </p:txBody>
      </p:sp>
      <p:sp>
        <p:nvSpPr>
          <p:cNvPr id="5" name="Shape 3"/>
          <p:cNvSpPr/>
          <p:nvPr/>
        </p:nvSpPr>
        <p:spPr>
          <a:xfrm>
            <a:off x="548640" y="1874520"/>
            <a:ext cx="11091672" cy="0"/>
          </a:xfrm>
          <a:prstGeom prst="line">
            <a:avLst/>
          </a:prstGeom>
          <a:noFill/>
          <a:ln w="12700">
            <a:solidFill>
              <a:srgbClr val="E5E5E3"/>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9260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6611112">
                  <a:extLst>
                    <a:ext uri="{9D8B030D-6E8A-4147-A177-3AD203B41FA5}">
                      <a16:colId xmlns:a16="http://schemas.microsoft.com/office/drawing/2014/main" val="20002"/>
                    </a:ext>
                  </a:extLst>
                </a:gridCol>
              </a:tblGrid>
              <a:tr h="40233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CASE TYPE</a:t>
                      </a:r>
                      <a:endParaRPr lang="en-US" sz="105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solidFill>
                      <a:srgbClr val="0F1419"/>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EXPECTED ACCURACY</a:t>
                      </a:r>
                      <a:endParaRPr lang="en-US" sz="105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solidFill>
                      <a:srgbClr val="0F1419"/>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solidFill>
                      <a:srgbClr val="0F1419"/>
                    </a:solidFill>
                  </a:tcPr>
                </a:tc>
                <a:extLst>
                  <a:ext uri="{0D108BD9-81ED-4DB2-BD59-A6C34878D82A}">
                    <a16:rowId xmlns:a16="http://schemas.microsoft.com/office/drawing/2014/main" val="10000"/>
                  </a:ext>
                </a:extLst>
              </a:tr>
              <a:tr h="402336">
                <a:tc>
                  <a:txBody>
                    <a:bodyPr/>
                    <a:lstStyle/>
                    <a:p>
                      <a:pPr marL="0" indent="0">
                        <a:buNone/>
                      </a:pPr>
                      <a:r>
                        <a:rPr lang="en-US" sz="1100" b="1" dirty="0">
                          <a:solidFill>
                            <a:srgbClr val="0F1419"/>
                          </a:solidFill>
                          <a:latin typeface="Calibri" pitchFamily="34" charset="0"/>
                          <a:ea typeface="Calibri" pitchFamily="34" charset="-122"/>
                          <a:cs typeface="Calibri" pitchFamily="34" charset="-120"/>
                        </a:rPr>
                        <a:t>Clear violation</a:t>
                      </a:r>
                      <a:endParaRPr lang="en-US" sz="110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marL="0" indent="0" algn="ctr">
                        <a:buNone/>
                      </a:pPr>
                      <a:r>
                        <a:rPr lang="en-US" sz="1100" b="1" dirty="0">
                          <a:solidFill>
                            <a:srgbClr val="1E5C4A"/>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marL="0" indent="0">
                        <a:buNone/>
                      </a:pPr>
                      <a:r>
                        <a:rPr lang="en-US" sz="1050" dirty="0">
                          <a:solidFill>
                            <a:srgbClr val="374151"/>
                          </a:solidFill>
                          <a:latin typeface="Calibri" pitchFamily="34" charset="0"/>
                          <a:ea typeface="Calibri" pitchFamily="34" charset="-122"/>
                          <a:cs typeface="Calibri" pitchFamily="34" charset="-120"/>
                        </a:rPr>
                        <a:t>Rules and AI agree — unambiguous</a:t>
                      </a:r>
                      <a:endParaRPr lang="en-US" sz="105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00" b="1" dirty="0">
                          <a:solidFill>
                            <a:srgbClr val="0F1419"/>
                          </a:solidFill>
                          <a:latin typeface="Calibri" pitchFamily="34" charset="0"/>
                          <a:ea typeface="Calibri" pitchFamily="34" charset="-122"/>
                          <a:cs typeface="Calibri" pitchFamily="34" charset="-120"/>
                        </a:rPr>
                        <a:t>Strategic + sub-floor</a:t>
                      </a:r>
                      <a:endParaRPr lang="en-US" sz="110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marL="0" indent="0" algn="ctr">
                        <a:buNone/>
                      </a:pPr>
                      <a:r>
                        <a:rPr lang="en-US" sz="1100" b="1" dirty="0">
                          <a:solidFill>
                            <a:srgbClr val="1E5C4A"/>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marL="0" indent="0">
                        <a:buNone/>
                      </a:pPr>
                      <a:r>
                        <a:rPr lang="en-US" sz="1050" dirty="0">
                          <a:solidFill>
                            <a:srgbClr val="374151"/>
                          </a:solidFill>
                          <a:latin typeface="Calibri" pitchFamily="34" charset="0"/>
                          <a:ea typeface="Calibri" pitchFamily="34" charset="-122"/>
                          <a:cs typeface="Calibri" pitchFamily="34" charset="-120"/>
                        </a:rPr>
                        <a:t>Volume logic vs. margin discipline is judgment-dependent</a:t>
                      </a:r>
                      <a:endParaRPr lang="en-US" sz="105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00" b="1" dirty="0">
                          <a:solidFill>
                            <a:srgbClr val="0F1419"/>
                          </a:solidFill>
                          <a:latin typeface="Calibri" pitchFamily="34" charset="0"/>
                          <a:ea typeface="Calibri" pitchFamily="34" charset="-122"/>
                          <a:cs typeface="Calibri" pitchFamily="34" charset="-120"/>
                        </a:rPr>
                        <a:t>Borderline take rate (5–7%)</a:t>
                      </a:r>
                      <a:endParaRPr lang="en-US" sz="110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marL="0" indent="0" algn="ctr">
                        <a:buNone/>
                      </a:pPr>
                      <a:r>
                        <a:rPr lang="en-US" sz="1100" b="1" dirty="0">
                          <a:solidFill>
                            <a:srgbClr val="1E5C4A"/>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marL="0" indent="0">
                        <a:buNone/>
                      </a:pPr>
                      <a:r>
                        <a:rPr lang="en-US" sz="1050" dirty="0">
                          <a:solidFill>
                            <a:srgbClr val="374151"/>
                          </a:solidFill>
                          <a:latin typeface="Calibri" pitchFamily="34" charset="0"/>
                          <a:ea typeface="Calibri" pitchFamily="34" charset="-122"/>
                          <a:cs typeface="Calibri" pitchFamily="34" charset="-120"/>
                        </a:rPr>
                        <a:t>Right answer depends on commercial priorities, not just data</a:t>
                      </a:r>
                      <a:endParaRPr lang="en-US" sz="105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00" b="1" dirty="0">
                          <a:solidFill>
                            <a:srgbClr val="0F1419"/>
                          </a:solidFill>
                          <a:latin typeface="Calibri" pitchFamily="34" charset="0"/>
                          <a:ea typeface="Calibri" pitchFamily="34" charset="-122"/>
                          <a:cs typeface="Calibri" pitchFamily="34" charset="-120"/>
                        </a:rPr>
                        <a:t>Missing rate card cell</a:t>
                      </a:r>
                      <a:endParaRPr lang="en-US" sz="110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marL="0" indent="0" algn="ctr">
                        <a:buNone/>
                      </a:pPr>
                      <a:r>
                        <a:rPr lang="en-US" sz="1100" b="1" dirty="0">
                          <a:solidFill>
                            <a:srgbClr val="1E5C4A"/>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marL="0" indent="0">
                        <a:buNone/>
                      </a:pPr>
                      <a:r>
                        <a:rPr lang="en-US" sz="1050" dirty="0">
                          <a:solidFill>
                            <a:srgbClr val="374151"/>
                          </a:solidFill>
                          <a:latin typeface="Calibri" pitchFamily="34" charset="0"/>
                          <a:ea typeface="Calibri" pitchFamily="34" charset="-122"/>
                          <a:cs typeface="Calibri" pitchFamily="34" charset="-120"/>
                        </a:rPr>
                        <a:t>Tool returns null — agent has no anchor and is guessing</a:t>
                      </a:r>
                      <a:endParaRPr lang="en-US" sz="1050" dirty="0">
                        <a:latin typeface="Calibri" charset="0"/>
                        <a:ea typeface="Calibri" charset="0"/>
                        <a:cs typeface="Calibri" charset="0"/>
                      </a:endParaRPr>
                    </a:p>
                  </a:txBody>
                  <a:tcPr>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548640" y="4526280"/>
            <a:ext cx="5486400" cy="274320"/>
          </a:xfrm>
          <a:prstGeom prst="rect">
            <a:avLst/>
          </a:prstGeom>
          <a:noFill/>
          <a:ln/>
        </p:spPr>
        <p:txBody>
          <a:bodyPr wrap="square" lIns="0" tIns="0" rIns="0" bIns="0" rtlCol="0" anchor="ctr"/>
          <a:lstStyle/>
          <a:p>
            <a:pPr marL="0" indent="0">
              <a:buNone/>
            </a:pPr>
            <a:r>
              <a:rPr lang="en-US" sz="1050" b="1" kern="0" spc="150" dirty="0">
                <a:solidFill>
                  <a:srgbClr val="6B7280"/>
                </a:solidFill>
                <a:latin typeface="Calibri" pitchFamily="34" charset="0"/>
                <a:ea typeface="Calibri" pitchFamily="34" charset="-122"/>
                <a:cs typeface="Calibri" pitchFamily="34" charset="-120"/>
              </a:rPr>
              <a:t>TWO FAILURE MODES, BY DESIGN</a:t>
            </a:r>
            <a:endParaRPr lang="en-US" sz="1050" dirty="0"/>
          </a:p>
        </p:txBody>
      </p:sp>
      <p:sp>
        <p:nvSpPr>
          <p:cNvPr id="8" name="Text 5"/>
          <p:cNvSpPr/>
          <p:nvPr/>
        </p:nvSpPr>
        <p:spPr>
          <a:xfrm>
            <a:off x="548640" y="4846320"/>
            <a:ext cx="5362956" cy="320040"/>
          </a:xfrm>
          <a:prstGeom prst="rect">
            <a:avLst/>
          </a:prstGeom>
          <a:noFill/>
          <a:ln/>
        </p:spPr>
        <p:txBody>
          <a:bodyPr wrap="square" lIns="0" tIns="0" rIns="0" bIns="0" rtlCol="0" anchor="ctr"/>
          <a:lstStyle/>
          <a:p>
            <a:pPr marL="0" indent="0">
              <a:buNone/>
            </a:pPr>
            <a:r>
              <a:rPr lang="en-US" sz="1300" b="1" dirty="0">
                <a:solidFill>
                  <a:srgbClr val="B45309"/>
                </a:solidFill>
                <a:latin typeface="Cambria" pitchFamily="34" charset="0"/>
                <a:ea typeface="Cambria" pitchFamily="34" charset="-122"/>
                <a:cs typeface="Cambria" pitchFamily="34" charset="-120"/>
              </a:rPr>
              <a:t>Strategic account over-tolerance</a:t>
            </a:r>
            <a:endParaRPr lang="en-US" sz="1300" dirty="0"/>
          </a:p>
        </p:txBody>
      </p:sp>
      <p:sp>
        <p:nvSpPr>
          <p:cNvPr id="9" name="Text 6"/>
          <p:cNvSpPr/>
          <p:nvPr/>
        </p:nvSpPr>
        <p:spPr>
          <a:xfrm>
            <a:off x="548640" y="5166360"/>
            <a:ext cx="5362956" cy="868680"/>
          </a:xfrm>
          <a:prstGeom prst="rect">
            <a:avLst/>
          </a:prstGeom>
          <a:noFill/>
          <a:ln/>
        </p:spPr>
        <p:txBody>
          <a:bodyPr wrap="square" lIns="0" tIns="0" rIns="0" bIns="0" rtlCol="0" anchor="t"/>
          <a:lstStyle/>
          <a:p>
            <a:pPr marL="0" indent="0">
              <a:lnSpc>
                <a:spcPct val="116000"/>
              </a:lnSpc>
              <a:buNone/>
            </a:pPr>
            <a:r>
              <a:rPr lang="en-US" sz="1050" dirty="0">
                <a:solidFill>
                  <a:srgbClr val="374151"/>
                </a:solidFill>
                <a:latin typeface="Calibri" pitchFamily="34" charset="0"/>
                <a:ea typeface="Calibri" pitchFamily="34" charset="-122"/>
                <a:cs typeface="Calibri" pitchFamily="34" charset="-120"/>
              </a:rPr>
              <a:t>The agent sees "strategic: true" and a rationale for thin pricing, and approves an exception a human CM would reject. The flag is binary — it can't tell genuine strategic accounts from opportunistically flagged ones.</a:t>
            </a:r>
            <a:endParaRPr lang="en-US" sz="1050" dirty="0"/>
          </a:p>
        </p:txBody>
      </p:sp>
      <p:sp>
        <p:nvSpPr>
          <p:cNvPr id="10" name="Text 7"/>
          <p:cNvSpPr/>
          <p:nvPr/>
        </p:nvSpPr>
        <p:spPr>
          <a:xfrm>
            <a:off x="6277356" y="4846320"/>
            <a:ext cx="5362956" cy="320040"/>
          </a:xfrm>
          <a:prstGeom prst="rect">
            <a:avLst/>
          </a:prstGeom>
          <a:noFill/>
          <a:ln/>
        </p:spPr>
        <p:txBody>
          <a:bodyPr wrap="square" lIns="0" tIns="0" rIns="0" bIns="0" rtlCol="0" anchor="ctr"/>
          <a:lstStyle/>
          <a:p>
            <a:pPr marL="0" indent="0">
              <a:buNone/>
            </a:pPr>
            <a:r>
              <a:rPr lang="en-US" sz="1300" b="1" dirty="0">
                <a:solidFill>
                  <a:srgbClr val="B45309"/>
                </a:solidFill>
                <a:latin typeface="Cambria" pitchFamily="34" charset="0"/>
                <a:ea typeface="Cambria" pitchFamily="34" charset="-122"/>
                <a:cs typeface="Cambria" pitchFamily="34" charset="-120"/>
              </a:rPr>
              <a:t>Rate card hallucination</a:t>
            </a:r>
            <a:endParaRPr lang="en-US" sz="1300" dirty="0"/>
          </a:p>
        </p:txBody>
      </p:sp>
      <p:sp>
        <p:nvSpPr>
          <p:cNvPr id="11" name="Text 8"/>
          <p:cNvSpPr/>
          <p:nvPr/>
        </p:nvSpPr>
        <p:spPr>
          <a:xfrm>
            <a:off x="6277356" y="5166360"/>
            <a:ext cx="5362956" cy="868680"/>
          </a:xfrm>
          <a:prstGeom prst="rect">
            <a:avLst/>
          </a:prstGeom>
          <a:noFill/>
          <a:ln/>
        </p:spPr>
        <p:txBody>
          <a:bodyPr wrap="square" lIns="0" tIns="0" rIns="0" bIns="0" rtlCol="0" anchor="t"/>
          <a:lstStyle/>
          <a:p>
            <a:pPr marL="0" indent="0">
              <a:lnSpc>
                <a:spcPct val="116000"/>
              </a:lnSpc>
              <a:buNone/>
            </a:pPr>
            <a:r>
              <a:rPr lang="en-US" sz="1050" dirty="0">
                <a:solidFill>
                  <a:srgbClr val="374151"/>
                </a:solidFill>
                <a:latin typeface="Calibri" pitchFamily="34" charset="0"/>
                <a:ea typeface="Calibri" pitchFamily="34" charset="-122"/>
                <a:cs typeface="Calibri" pitchFamily="34" charset="-120"/>
              </a:rPr>
              <a:t>If the agent reasons from memory instead of calling the lookup tool, it anchors on a fabricated number. Mitigation: null tool output auto-escalates rather than producing a verdict.</a:t>
            </a:r>
            <a:endParaRPr lang="en-US" sz="1050" dirty="0"/>
          </a:p>
        </p:txBody>
      </p:sp>
      <p:sp>
        <p:nvSpPr>
          <p:cNvPr id="12" name="Text 9"/>
          <p:cNvSpPr/>
          <p:nvPr/>
        </p:nvSpPr>
        <p:spPr>
          <a:xfrm>
            <a:off x="548640" y="6355080"/>
            <a:ext cx="10634472"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Built with: Next.js · TypeScript · Tailwind · Anthropic Claude SDK · Make · Vercel</a:t>
            </a:r>
            <a:endParaRPr lang="en-US" sz="950" dirty="0"/>
          </a:p>
        </p:txBody>
      </p:sp>
      <p:sp>
        <p:nvSpPr>
          <p:cNvPr id="13" name="Text 10"/>
          <p:cNvSpPr/>
          <p:nvPr/>
        </p:nvSpPr>
        <p:spPr>
          <a:xfrm>
            <a:off x="11365992" y="6355080"/>
            <a:ext cx="2743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48640" y="640080"/>
            <a:ext cx="7315200" cy="274320"/>
          </a:xfrm>
          <a:prstGeom prst="rect">
            <a:avLst/>
          </a:prstGeom>
          <a:noFill/>
          <a:ln/>
        </p:spPr>
        <p:txBody>
          <a:bodyPr wrap="square" lIns="0" tIns="0" rIns="0" bIns="0" rtlCol="0" anchor="ctr"/>
          <a:lstStyle/>
          <a:p>
            <a:pPr marL="0" indent="0">
              <a:buNone/>
            </a:pPr>
            <a:r>
              <a:rPr lang="en-US" sz="1050" b="1" kern="0" spc="200" dirty="0">
                <a:solidFill>
                  <a:srgbClr val="8A9199"/>
                </a:solidFill>
                <a:latin typeface="Calibri" pitchFamily="34" charset="0"/>
                <a:ea typeface="Calibri" pitchFamily="34" charset="-122"/>
                <a:cs typeface="Calibri" pitchFamily="34" charset="-120"/>
              </a:rPr>
              <a:t>CLOSING</a:t>
            </a:r>
            <a:endParaRPr lang="en-US" sz="1050" dirty="0"/>
          </a:p>
        </p:txBody>
      </p:sp>
      <p:sp>
        <p:nvSpPr>
          <p:cNvPr id="3" name="Text 1"/>
          <p:cNvSpPr/>
          <p:nvPr/>
        </p:nvSpPr>
        <p:spPr>
          <a:xfrm>
            <a:off x="548640" y="1005840"/>
            <a:ext cx="11091672" cy="1188720"/>
          </a:xfrm>
          <a:prstGeom prst="rect">
            <a:avLst/>
          </a:prstGeom>
          <a:noFill/>
          <a:ln/>
        </p:spPr>
        <p:txBody>
          <a:bodyPr wrap="square" lIns="0" tIns="0" rIns="0" bIns="0" rtlCol="0" anchor="t"/>
          <a:lstStyle/>
          <a:p>
            <a:pPr marL="0" indent="0">
              <a:lnSpc>
                <a:spcPct val="115000"/>
              </a:lnSpc>
              <a:buNone/>
            </a:pPr>
            <a:r>
              <a:rPr lang="en-US" sz="2100" b="1" dirty="0">
                <a:solidFill>
                  <a:srgbClr val="FFFFFF"/>
                </a:solidFill>
                <a:latin typeface="Cambria" pitchFamily="34" charset="0"/>
                <a:ea typeface="Cambria" pitchFamily="34" charset="-122"/>
                <a:cs typeface="Cambria" pitchFamily="34" charset="-120"/>
              </a:rPr>
              <a:t>I'm not an ML engineer. I'm an ops and strategy person who scopes real problems properly and makes the judgment call on where AI adds value versus where deterministic logic is better.</a:t>
            </a:r>
            <a:endParaRPr lang="en-US" sz="2100" dirty="0"/>
          </a:p>
        </p:txBody>
      </p:sp>
      <p:sp>
        <p:nvSpPr>
          <p:cNvPr id="4" name="Shape 2"/>
          <p:cNvSpPr/>
          <p:nvPr/>
        </p:nvSpPr>
        <p:spPr>
          <a:xfrm>
            <a:off x="548640" y="2423160"/>
            <a:ext cx="11091672" cy="0"/>
          </a:xfrm>
          <a:prstGeom prst="line">
            <a:avLst/>
          </a:prstGeom>
          <a:noFill/>
          <a:ln w="12700">
            <a:solidFill>
              <a:srgbClr val="2A313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548640" y="2734056"/>
            <a:ext cx="164592" cy="164592"/>
          </a:xfrm>
          <a:prstGeom prst="rect">
            <a:avLst/>
          </a:prstGeom>
        </p:spPr>
      </p:pic>
      <p:sp>
        <p:nvSpPr>
          <p:cNvPr id="6" name="Text 3"/>
          <p:cNvSpPr/>
          <p:nvPr/>
        </p:nvSpPr>
        <p:spPr>
          <a:xfrm>
            <a:off x="841248" y="2697480"/>
            <a:ext cx="10799064" cy="320040"/>
          </a:xfrm>
          <a:prstGeom prst="rect">
            <a:avLst/>
          </a:prstGeom>
          <a:noFill/>
          <a:ln/>
        </p:spPr>
        <p:txBody>
          <a:bodyPr wrap="square" lIns="0" tIns="0" rIns="0" bIns="0" rtlCol="0" anchor="ctr"/>
          <a:lstStyle/>
          <a:p>
            <a:pPr marL="0" indent="0">
              <a:buNone/>
            </a:pPr>
            <a:r>
              <a:rPr lang="en-US" sz="1300" dirty="0">
                <a:solidFill>
                  <a:srgbClr val="E5E7EA"/>
                </a:solidFill>
                <a:latin typeface="Calibri" pitchFamily="34" charset="0"/>
                <a:ea typeface="Calibri" pitchFamily="34" charset="-122"/>
                <a:cs typeface="Calibri" pitchFamily="34" charset="-120"/>
              </a:rPr>
              <a:t>Real problem, lived at Trella — not a toy demo</a:t>
            </a:r>
            <a:endParaRPr lang="en-US" sz="1300" dirty="0"/>
          </a:p>
        </p:txBody>
      </p:sp>
      <p:pic>
        <p:nvPicPr>
          <p:cNvPr id="7" name="Image 1" descr="preencoded.png"/>
          <p:cNvPicPr>
            <a:picLocks noChangeAspect="1"/>
          </p:cNvPicPr>
          <p:nvPr/>
        </p:nvPicPr>
        <p:blipFill>
          <a:blip r:embed="rId3"/>
          <a:stretch>
            <a:fillRect/>
          </a:stretch>
        </p:blipFill>
        <p:spPr>
          <a:xfrm>
            <a:off x="548640" y="3145536"/>
            <a:ext cx="164592" cy="164592"/>
          </a:xfrm>
          <a:prstGeom prst="rect">
            <a:avLst/>
          </a:prstGeom>
        </p:spPr>
      </p:pic>
      <p:sp>
        <p:nvSpPr>
          <p:cNvPr id="8" name="Text 4"/>
          <p:cNvSpPr/>
          <p:nvPr/>
        </p:nvSpPr>
        <p:spPr>
          <a:xfrm>
            <a:off x="841248" y="3108960"/>
            <a:ext cx="10799064" cy="320040"/>
          </a:xfrm>
          <a:prstGeom prst="rect">
            <a:avLst/>
          </a:prstGeom>
          <a:noFill/>
          <a:ln/>
        </p:spPr>
        <p:txBody>
          <a:bodyPr wrap="square" lIns="0" tIns="0" rIns="0" bIns="0" rtlCol="0" anchor="ctr"/>
          <a:lstStyle/>
          <a:p>
            <a:pPr marL="0" indent="0">
              <a:buNone/>
            </a:pPr>
            <a:r>
              <a:rPr lang="en-US" sz="1300" dirty="0">
                <a:solidFill>
                  <a:srgbClr val="E5E7EA"/>
                </a:solidFill>
                <a:latin typeface="Calibri" pitchFamily="34" charset="0"/>
                <a:ea typeface="Calibri" pitchFamily="34" charset="-122"/>
                <a:cs typeface="Calibri" pitchFamily="34" charset="-120"/>
              </a:rPr>
              <a:t>A defensible architecture decision, not a feature list</a:t>
            </a:r>
            <a:endParaRPr lang="en-US" sz="1300" dirty="0"/>
          </a:p>
        </p:txBody>
      </p:sp>
      <p:pic>
        <p:nvPicPr>
          <p:cNvPr id="9" name="Image 2" descr="preencoded.png"/>
          <p:cNvPicPr>
            <a:picLocks noChangeAspect="1"/>
          </p:cNvPicPr>
          <p:nvPr/>
        </p:nvPicPr>
        <p:blipFill>
          <a:blip r:embed="rId3"/>
          <a:stretch>
            <a:fillRect/>
          </a:stretch>
        </p:blipFill>
        <p:spPr>
          <a:xfrm>
            <a:off x="548640" y="3557016"/>
            <a:ext cx="164592" cy="164592"/>
          </a:xfrm>
          <a:prstGeom prst="rect">
            <a:avLst/>
          </a:prstGeom>
        </p:spPr>
      </p:pic>
      <p:sp>
        <p:nvSpPr>
          <p:cNvPr id="10" name="Text 5"/>
          <p:cNvSpPr/>
          <p:nvPr/>
        </p:nvSpPr>
        <p:spPr>
          <a:xfrm>
            <a:off x="841248" y="3520440"/>
            <a:ext cx="10799064" cy="320040"/>
          </a:xfrm>
          <a:prstGeom prst="rect">
            <a:avLst/>
          </a:prstGeom>
          <a:noFill/>
          <a:ln/>
        </p:spPr>
        <p:txBody>
          <a:bodyPr wrap="square" lIns="0" tIns="0" rIns="0" bIns="0" rtlCol="0" anchor="ctr"/>
          <a:lstStyle/>
          <a:p>
            <a:pPr marL="0" indent="0">
              <a:buNone/>
            </a:pPr>
            <a:r>
              <a:rPr lang="en-US" sz="1300" dirty="0">
                <a:solidFill>
                  <a:srgbClr val="E5E7EA"/>
                </a:solidFill>
                <a:latin typeface="Calibri" pitchFamily="34" charset="0"/>
                <a:ea typeface="Calibri" pitchFamily="34" charset="-122"/>
                <a:cs typeface="Calibri" pitchFamily="34" charset="-120"/>
              </a:rPr>
              <a:t>Honest limitations, stated before anyone has to ask</a:t>
            </a:r>
            <a:endParaRPr lang="en-US" sz="1300" dirty="0"/>
          </a:p>
        </p:txBody>
      </p:sp>
      <p:sp>
        <p:nvSpPr>
          <p:cNvPr id="11" name="Shape 6"/>
          <p:cNvSpPr/>
          <p:nvPr/>
        </p:nvSpPr>
        <p:spPr>
          <a:xfrm>
            <a:off x="548640" y="4069080"/>
            <a:ext cx="11091672" cy="0"/>
          </a:xfrm>
          <a:prstGeom prst="line">
            <a:avLst/>
          </a:prstGeom>
          <a:noFill/>
          <a:ln w="12700">
            <a:solidFill>
              <a:srgbClr val="2A3138"/>
            </a:solidFill>
            <a:prstDash val="solid"/>
          </a:ln>
        </p:spPr>
        <p:txBody>
          <a:bodyPr/>
          <a:lstStyle/>
          <a:p>
            <a:endParaRPr lang="en-US"/>
          </a:p>
        </p:txBody>
      </p:sp>
      <p:sp>
        <p:nvSpPr>
          <p:cNvPr id="12" name="Text 7"/>
          <p:cNvSpPr/>
          <p:nvPr/>
        </p:nvSpPr>
        <p:spPr>
          <a:xfrm>
            <a:off x="548640" y="4251960"/>
            <a:ext cx="11091672" cy="4114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Live: </a:t>
            </a:r>
            <a:r>
              <a:rPr lang="en-US" sz="1250" dirty="0">
                <a:solidFill>
                  <a:srgbClr val="5FB89A"/>
                </a:solidFill>
                <a:latin typeface="Calibri" pitchFamily="34" charset="0"/>
                <a:ea typeface="Calibri" pitchFamily="34" charset="-122"/>
                <a:cs typeface="Calibri" pitchFamily="34" charset="-120"/>
              </a:rPr>
              <a:t>deal-pricing-reviewer.vercel.app</a:t>
            </a:r>
            <a:r>
              <a:rPr lang="en-US" sz="1250" dirty="0">
                <a:solidFill>
                  <a:srgbClr val="9CA7B3"/>
                </a:solidFill>
                <a:latin typeface="Calibri" pitchFamily="34" charset="0"/>
                <a:ea typeface="Calibri" pitchFamily="34" charset="-122"/>
                <a:cs typeface="Calibri" pitchFamily="34" charset="-120"/>
              </a:rPr>
              <a:t>  —  walk through the dashboard, the action queue, or the agent's reasoning on any flagged deal.</a:t>
            </a:r>
            <a:endParaRPr lang="en-US" sz="1250" dirty="0"/>
          </a:p>
        </p:txBody>
      </p:sp>
      <p:sp>
        <p:nvSpPr>
          <p:cNvPr id="13" name="Text 8"/>
          <p:cNvSpPr/>
          <p:nvPr/>
        </p:nvSpPr>
        <p:spPr>
          <a:xfrm>
            <a:off x="11365992" y="6355080"/>
            <a:ext cx="274320" cy="274320"/>
          </a:xfrm>
          <a:prstGeom prst="rect">
            <a:avLst/>
          </a:prstGeom>
          <a:noFill/>
          <a:ln/>
        </p:spPr>
        <p:txBody>
          <a:bodyPr wrap="square" lIns="0" tIns="0" rIns="0" bIns="0" rtlCol="0" anchor="ctr"/>
          <a:lstStyle/>
          <a:p>
            <a:pPr marL="0" indent="0" algn="r">
              <a:buNone/>
            </a:pPr>
            <a:r>
              <a:rPr lang="en-US" sz="900" dirty="0">
                <a:solidFill>
                  <a:srgbClr val="5B64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907</Words>
  <Application>Microsoft Macintosh PowerPoint</Application>
  <PresentationFormat>Widescreen</PresentationFormat>
  <Paragraphs>90</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 &amp; Pricing Governance Reviewer</dc:title>
  <dc:subject>PptxGenJS Presentation</dc:subject>
  <dc:creator>Mahlab Maniar</dc:creator>
  <cp:lastModifiedBy>mahlab maniar</cp:lastModifiedBy>
  <cp:revision>1</cp:revision>
  <dcterms:created xsi:type="dcterms:W3CDTF">2026-06-28T08:26:04Z</dcterms:created>
  <dcterms:modified xsi:type="dcterms:W3CDTF">2026-06-30T06:12:36Z</dcterms:modified>
</cp:coreProperties>
</file>